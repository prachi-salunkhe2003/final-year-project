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7" r:id="rId1"/>
  </p:sldMasterIdLst>
  <p:sldIdLst>
    <p:sldId id="256" r:id="rId2"/>
    <p:sldId id="258" r:id="rId3"/>
    <p:sldId id="257" r:id="rId4"/>
    <p:sldId id="259" r:id="rId5"/>
    <p:sldId id="260" r:id="rId6"/>
    <p:sldId id="261" r:id="rId7"/>
    <p:sldId id="278" r:id="rId8"/>
    <p:sldId id="267" r:id="rId9"/>
    <p:sldId id="262" r:id="rId10"/>
    <p:sldId id="263" r:id="rId11"/>
    <p:sldId id="264" r:id="rId12"/>
    <p:sldId id="265" r:id="rId13"/>
    <p:sldId id="266" r:id="rId14"/>
    <p:sldId id="274" r:id="rId15"/>
    <p:sldId id="269" r:id="rId16"/>
    <p:sldId id="270" r:id="rId17"/>
    <p:sldId id="275" r:id="rId18"/>
    <p:sldId id="272" r:id="rId19"/>
    <p:sldId id="273" r:id="rId20"/>
    <p:sldId id="276" r:id="rId21"/>
    <p:sldId id="277"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tableStyles" Target="tableStyles.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presProps" Target="presProp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E351CED-465B-40B5-ADCE-957C918F227B}" type="datetimeFigureOut">
              <a:rPr lang="en-US" smtClean="0"/>
              <a:t>10/20/2024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83251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351CED-465B-40B5-ADCE-957C918F227B}" type="datetimeFigureOut">
              <a:rPr lang="en-US" smtClean="0"/>
              <a:t>10/20/2024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4085514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351CED-465B-40B5-ADCE-957C918F227B}" type="datetimeFigureOut">
              <a:rPr lang="en-US" smtClean="0"/>
              <a:t>10/20/2024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951729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E351CED-465B-40B5-ADCE-957C918F227B}" type="datetimeFigureOut">
              <a:rPr lang="en-US" smtClean="0"/>
              <a:t>10/20/2024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203579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E351CED-465B-40B5-ADCE-957C918F227B}" type="datetimeFigureOut">
              <a:rPr lang="en-US" smtClean="0"/>
              <a:t>10/20/2024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728009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1E351CED-465B-40B5-ADCE-957C918F227B}" type="datetimeFigureOut">
              <a:rPr lang="en-US" smtClean="0"/>
              <a:t>10/20/2024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19015763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351CED-465B-40B5-ADCE-957C918F227B}" type="datetimeFigureOut">
              <a:rPr lang="en-US" smtClean="0"/>
              <a:t>10/20/2024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1652992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351CED-465B-40B5-ADCE-957C918F227B}" type="datetimeFigureOut">
              <a:rPr lang="en-US" smtClean="0"/>
              <a:t>10/20/2024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195527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33CB2A-1702-4C1D-9CC4-8D472D39F19E}" type="slidenum">
              <a:rPr lang="en-US" smtClean="0"/>
              <a:t>‹#›</a:t>
            </a:fld>
            <a:endParaRPr lang="en-US"/>
          </a:p>
        </p:txBody>
      </p:sp>
      <p:sp>
        <p:nvSpPr>
          <p:cNvPr id="5" name="Date Placeholder 4"/>
          <p:cNvSpPr>
            <a:spLocks noGrp="1"/>
          </p:cNvSpPr>
          <p:nvPr>
            <p:ph type="dt" sz="half" idx="10"/>
          </p:nvPr>
        </p:nvSpPr>
        <p:spPr/>
        <p:txBody>
          <a:bodyPr/>
          <a:lstStyle/>
          <a:p>
            <a:fld id="{1E351CED-465B-40B5-ADCE-957C918F227B}" type="datetimeFigureOut">
              <a:rPr lang="en-US" smtClean="0"/>
              <a:t>10/20/2024</a:t>
            </a:fld>
            <a:endParaRPr lang="en-US"/>
          </a:p>
        </p:txBody>
      </p:sp>
    </p:spTree>
    <p:extLst>
      <p:ext uri="{BB962C8B-B14F-4D97-AF65-F5344CB8AC3E}">
        <p14:creationId xmlns:p14="http://schemas.microsoft.com/office/powerpoint/2010/main" val="33864253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351CED-465B-40B5-ADCE-957C918F227B}" type="datetimeFigureOut">
              <a:rPr lang="en-US" smtClean="0"/>
              <a:t>10/20/2024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34881500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351CED-465B-40B5-ADCE-957C918F227B}" type="datetimeFigureOut">
              <a:rPr lang="en-US" smtClean="0"/>
              <a:t>10/20/2024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065708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351CED-465B-40B5-ADCE-957C918F227B}" type="datetimeFigureOut">
              <a:rPr lang="en-US" smtClean="0"/>
              <a:t>10/20/2024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12993598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351CED-465B-40B5-ADCE-957C918F227B}" type="datetimeFigureOut">
              <a:rPr lang="en-US" smtClean="0"/>
              <a:t>10/20/2024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5567374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351CED-465B-40B5-ADCE-957C918F227B}" type="datetimeFigureOut">
              <a:rPr lang="en-US" smtClean="0"/>
              <a:t>10/20/2024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42664450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351CED-465B-40B5-ADCE-957C918F227B}" type="datetimeFigureOut">
              <a:rPr lang="en-US" smtClean="0"/>
              <a:t>10/20/2024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8823272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351CED-465B-40B5-ADCE-957C918F227B}" type="datetimeFigureOut">
              <a:rPr lang="en-US" smtClean="0"/>
              <a:t>10/20/2024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t>‹#›</a:t>
            </a:fld>
            <a:endParaRPr lang="en-US"/>
          </a:p>
        </p:txBody>
      </p:sp>
    </p:spTree>
    <p:extLst>
      <p:ext uri="{BB962C8B-B14F-4D97-AF65-F5344CB8AC3E}">
        <p14:creationId xmlns:p14="http://schemas.microsoft.com/office/powerpoint/2010/main" val="2710418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E351CED-465B-40B5-ADCE-957C918F227B}" type="datetimeFigureOut">
              <a:rPr lang="en-US" smtClean="0"/>
              <a:t>10/20/2024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A33CB2A-1702-4C1D-9CC4-8D472D39F19E}" type="slidenum">
              <a:rPr lang="en-US" smtClean="0"/>
              <a:t>‹#›</a:t>
            </a:fld>
            <a:endParaRPr lang="en-US"/>
          </a:p>
        </p:txBody>
      </p:sp>
    </p:spTree>
    <p:extLst>
      <p:ext uri="{BB962C8B-B14F-4D97-AF65-F5344CB8AC3E}">
        <p14:creationId xmlns:p14="http://schemas.microsoft.com/office/powerpoint/2010/main" val="673222761"/>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81" r:id="rId14"/>
    <p:sldLayoutId id="2147483782" r:id="rId15"/>
    <p:sldLayoutId id="214748378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11.jpe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81050" y="1038928"/>
            <a:ext cx="6482635" cy="3034539"/>
          </a:xfrm>
        </p:spPr>
        <p:txBody>
          <a:bodyPr vert="horz" lIns="91440" tIns="45720" rIns="91440" bIns="45720" rtlCol="0" anchor="b">
            <a:normAutofit/>
          </a:bodyPr>
          <a:lstStyle/>
          <a:p>
            <a:pPr algn="ctr"/>
            <a:r>
              <a:rPr lang="en-US" sz="4800" b="1"/>
              <a:t>GAS LEVEL DETECTION  AND </a:t>
            </a:r>
            <a:br>
              <a:rPr lang="en-US" sz="4800" b="1"/>
            </a:br>
            <a:r>
              <a:rPr lang="en-US" sz="4800" b="1"/>
              <a:t>AUTOMATIC BOOKING ALERT</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E2E3C-3AEA-2D65-97AD-C605A3A32586}"/>
              </a:ext>
            </a:extLst>
          </p:cNvPr>
          <p:cNvSpPr>
            <a:spLocks noGrp="1"/>
          </p:cNvSpPr>
          <p:nvPr>
            <p:ph type="title"/>
          </p:nvPr>
        </p:nvSpPr>
        <p:spPr>
          <a:xfrm>
            <a:off x="2028825" y="850005"/>
            <a:ext cx="8139985" cy="1097594"/>
          </a:xfrm>
        </p:spPr>
        <p:txBody>
          <a:bodyPr vert="horz" lIns="91440" tIns="45720" rIns="91440" bIns="45720" rtlCol="0" anchor="b">
            <a:normAutofit/>
          </a:bodyPr>
          <a:lstStyle/>
          <a:p>
            <a:pPr>
              <a:lnSpc>
                <a:spcPct val="100000"/>
              </a:lnSpc>
            </a:pPr>
            <a:r>
              <a:rPr lang="en-US" sz="2000"/>
              <a:t>A PRESENTATION ON GAS LEVEL DETECTION AND AUTOMATIC BOOKING ALERT</a:t>
            </a:r>
          </a:p>
        </p:txBody>
      </p:sp>
      <p:graphicFrame>
        <p:nvGraphicFramePr>
          <p:cNvPr id="5" name="Table 4">
            <a:extLst>
              <a:ext uri="{FF2B5EF4-FFF2-40B4-BE49-F238E27FC236}">
                <a16:creationId xmlns:a16="http://schemas.microsoft.com/office/drawing/2014/main" id="{05652E0F-59FA-33EB-15F6-7A2CB0E78F02}"/>
              </a:ext>
            </a:extLst>
          </p:cNvPr>
          <p:cNvGraphicFramePr>
            <a:graphicFrameLocks noGrp="1"/>
          </p:cNvGraphicFramePr>
          <p:nvPr>
            <p:extLst>
              <p:ext uri="{D42A27DB-BD31-4B8C-83A1-F6EECF244321}">
                <p14:modId xmlns:p14="http://schemas.microsoft.com/office/powerpoint/2010/main" val="2440308591"/>
              </p:ext>
            </p:extLst>
          </p:nvPr>
        </p:nvGraphicFramePr>
        <p:xfrm>
          <a:off x="2028825" y="2390775"/>
          <a:ext cx="8144821" cy="2066894"/>
        </p:xfrm>
        <a:graphic>
          <a:graphicData uri="http://schemas.openxmlformats.org/drawingml/2006/table">
            <a:tbl>
              <a:tblPr firstRow="1" bandRow="1">
                <a:tableStyleId>{5C22544A-7EE6-4342-B048-85BDC9FD1C3A}</a:tableStyleId>
              </a:tblPr>
              <a:tblGrid>
                <a:gridCol w="1619250">
                  <a:extLst>
                    <a:ext uri="{9D8B030D-6E8A-4147-A177-3AD203B41FA5}">
                      <a16:colId xmlns:a16="http://schemas.microsoft.com/office/drawing/2014/main" val="3523290829"/>
                    </a:ext>
                  </a:extLst>
                </a:gridCol>
                <a:gridCol w="4310062">
                  <a:extLst>
                    <a:ext uri="{9D8B030D-6E8A-4147-A177-3AD203B41FA5}">
                      <a16:colId xmlns:a16="http://schemas.microsoft.com/office/drawing/2014/main" val="4242570075"/>
                    </a:ext>
                  </a:extLst>
                </a:gridCol>
                <a:gridCol w="2215509">
                  <a:extLst>
                    <a:ext uri="{9D8B030D-6E8A-4147-A177-3AD203B41FA5}">
                      <a16:colId xmlns:a16="http://schemas.microsoft.com/office/drawing/2014/main" val="3235060594"/>
                    </a:ext>
                  </a:extLst>
                </a:gridCol>
              </a:tblGrid>
              <a:tr h="427657">
                <a:tc>
                  <a:txBody>
                    <a:bodyPr/>
                    <a:lstStyle/>
                    <a:p>
                      <a:pPr algn="ctr"/>
                      <a:r>
                        <a:rPr lang="en-US"/>
                        <a:t>SR</a:t>
                      </a:r>
                    </a:p>
                    <a:p>
                      <a:pPr lvl="0" algn="ctr">
                        <a:buNone/>
                      </a:pPr>
                      <a:r>
                        <a:rPr lang="en-US"/>
                        <a:t>NO.</a:t>
                      </a:r>
                    </a:p>
                  </a:txBody>
                  <a:tcPr/>
                </a:tc>
                <a:tc>
                  <a:txBody>
                    <a:bodyPr/>
                    <a:lstStyle/>
                    <a:p>
                      <a:pPr algn="ctr"/>
                      <a:r>
                        <a:rPr lang="en-US"/>
                        <a:t>STUDENT NAME</a:t>
                      </a:r>
                    </a:p>
                  </a:txBody>
                  <a:tcPr/>
                </a:tc>
                <a:tc>
                  <a:txBody>
                    <a:bodyPr/>
                    <a:lstStyle/>
                    <a:p>
                      <a:pPr algn="ctr"/>
                      <a:r>
                        <a:rPr lang="en-US"/>
                        <a:t>ROLL NO</a:t>
                      </a:r>
                    </a:p>
                  </a:txBody>
                  <a:tcPr/>
                </a:tc>
                <a:extLst>
                  <a:ext uri="{0D108BD9-81ED-4DB2-BD59-A6C34878D82A}">
                    <a16:rowId xmlns:a16="http://schemas.microsoft.com/office/drawing/2014/main" val="430402161"/>
                  </a:ext>
                </a:extLst>
              </a:tr>
              <a:tr h="571500">
                <a:tc>
                  <a:txBody>
                    <a:bodyPr/>
                    <a:lstStyle/>
                    <a:p>
                      <a:pPr algn="ctr"/>
                      <a:r>
                        <a:rPr lang="en-US"/>
                        <a:t>1</a:t>
                      </a:r>
                    </a:p>
                  </a:txBody>
                  <a:tcPr/>
                </a:tc>
                <a:tc>
                  <a:txBody>
                    <a:bodyPr/>
                    <a:lstStyle/>
                    <a:p>
                      <a:pPr algn="ctr"/>
                      <a:r>
                        <a:rPr lang="en-US"/>
                        <a:t>Prajakta Vilas Pawar</a:t>
                      </a:r>
                    </a:p>
                  </a:txBody>
                  <a:tcPr/>
                </a:tc>
                <a:tc>
                  <a:txBody>
                    <a:bodyPr/>
                    <a:lstStyle/>
                    <a:p>
                      <a:pPr algn="ctr"/>
                      <a:r>
                        <a:rPr lang="en-US"/>
                        <a:t>41</a:t>
                      </a:r>
                    </a:p>
                  </a:txBody>
                  <a:tcPr/>
                </a:tc>
                <a:extLst>
                  <a:ext uri="{0D108BD9-81ED-4DB2-BD59-A6C34878D82A}">
                    <a16:rowId xmlns:a16="http://schemas.microsoft.com/office/drawing/2014/main" val="2466187552"/>
                  </a:ext>
                </a:extLst>
              </a:tr>
              <a:tr h="427657">
                <a:tc>
                  <a:txBody>
                    <a:bodyPr/>
                    <a:lstStyle/>
                    <a:p>
                      <a:pPr algn="ctr"/>
                      <a:r>
                        <a:rPr lang="en-US"/>
                        <a:t>2</a:t>
                      </a:r>
                    </a:p>
                  </a:txBody>
                  <a:tcPr/>
                </a:tc>
                <a:tc>
                  <a:txBody>
                    <a:bodyPr/>
                    <a:lstStyle/>
                    <a:p>
                      <a:pPr algn="ctr"/>
                      <a:r>
                        <a:rPr lang="en-US"/>
                        <a:t>Prachi </a:t>
                      </a:r>
                      <a:r>
                        <a:rPr lang="en-US" err="1"/>
                        <a:t>Balasaheb</a:t>
                      </a:r>
                      <a:r>
                        <a:rPr lang="en-US"/>
                        <a:t> Salunkhe</a:t>
                      </a:r>
                    </a:p>
                  </a:txBody>
                  <a:tcPr/>
                </a:tc>
                <a:tc>
                  <a:txBody>
                    <a:bodyPr/>
                    <a:lstStyle/>
                    <a:p>
                      <a:pPr algn="ctr"/>
                      <a:r>
                        <a:rPr lang="en-US"/>
                        <a:t>15</a:t>
                      </a:r>
                    </a:p>
                  </a:txBody>
                  <a:tcPr/>
                </a:tc>
                <a:extLst>
                  <a:ext uri="{0D108BD9-81ED-4DB2-BD59-A6C34878D82A}">
                    <a16:rowId xmlns:a16="http://schemas.microsoft.com/office/drawing/2014/main" val="961551615"/>
                  </a:ext>
                </a:extLst>
              </a:tr>
              <a:tr h="427657">
                <a:tc>
                  <a:txBody>
                    <a:bodyPr/>
                    <a:lstStyle/>
                    <a:p>
                      <a:pPr algn="ctr"/>
                      <a:r>
                        <a:rPr lang="en-US"/>
                        <a:t>3</a:t>
                      </a:r>
                    </a:p>
                  </a:txBody>
                  <a:tcPr/>
                </a:tc>
                <a:tc>
                  <a:txBody>
                    <a:bodyPr/>
                    <a:lstStyle/>
                    <a:p>
                      <a:pPr algn="ctr"/>
                      <a:r>
                        <a:rPr lang="en-US"/>
                        <a:t>Jaywant Dattatray </a:t>
                      </a:r>
                      <a:r>
                        <a:rPr lang="en-US" err="1"/>
                        <a:t>Thite</a:t>
                      </a:r>
                    </a:p>
                  </a:txBody>
                  <a:tcPr/>
                </a:tc>
                <a:tc>
                  <a:txBody>
                    <a:bodyPr/>
                    <a:lstStyle/>
                    <a:p>
                      <a:pPr algn="ctr"/>
                      <a:r>
                        <a:rPr lang="en-US"/>
                        <a:t>20</a:t>
                      </a:r>
                    </a:p>
                  </a:txBody>
                  <a:tcPr/>
                </a:tc>
                <a:extLst>
                  <a:ext uri="{0D108BD9-81ED-4DB2-BD59-A6C34878D82A}">
                    <a16:rowId xmlns:a16="http://schemas.microsoft.com/office/drawing/2014/main" val="1426497250"/>
                  </a:ext>
                </a:extLst>
              </a:tr>
            </a:tbl>
          </a:graphicData>
        </a:graphic>
      </p:graphicFrame>
      <p:sp>
        <p:nvSpPr>
          <p:cNvPr id="7" name="TextBox 6">
            <a:extLst>
              <a:ext uri="{FF2B5EF4-FFF2-40B4-BE49-F238E27FC236}">
                <a16:creationId xmlns:a16="http://schemas.microsoft.com/office/drawing/2014/main" id="{5470503B-8E0F-47D5-8023-32A446AF5E3C}"/>
              </a:ext>
            </a:extLst>
          </p:cNvPr>
          <p:cNvSpPr txBox="1"/>
          <p:nvPr/>
        </p:nvSpPr>
        <p:spPr>
          <a:xfrm>
            <a:off x="4529137" y="4879181"/>
            <a:ext cx="27813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t>Guide By</a:t>
            </a:r>
          </a:p>
          <a:p>
            <a:r>
              <a:rPr lang="en-US"/>
              <a:t>Prof.(Dr.)T. M. </a:t>
            </a:r>
            <a:r>
              <a:rPr lang="en-US" err="1"/>
              <a:t>Dudhane</a:t>
            </a:r>
          </a:p>
        </p:txBody>
      </p:sp>
    </p:spTree>
    <p:extLst>
      <p:ext uri="{BB962C8B-B14F-4D97-AF65-F5344CB8AC3E}">
        <p14:creationId xmlns:p14="http://schemas.microsoft.com/office/powerpoint/2010/main" val="4142917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1D312-7FF4-51F9-46C7-5095D2B65E6C}"/>
              </a:ext>
            </a:extLst>
          </p:cNvPr>
          <p:cNvSpPr>
            <a:spLocks noGrp="1"/>
          </p:cNvSpPr>
          <p:nvPr>
            <p:ph type="title"/>
          </p:nvPr>
        </p:nvSpPr>
        <p:spPr>
          <a:xfrm>
            <a:off x="679342" y="1442905"/>
            <a:ext cx="2953825" cy="717492"/>
          </a:xfrm>
        </p:spPr>
        <p:txBody>
          <a:bodyPr anchor="t">
            <a:noAutofit/>
          </a:bodyPr>
          <a:lstStyle/>
          <a:p>
            <a:pPr algn="r"/>
            <a:r>
              <a:rPr lang="en-US" sz="4800" b="1"/>
              <a:t>CONTENT</a:t>
            </a:r>
          </a:p>
        </p:txBody>
      </p:sp>
      <p:sp>
        <p:nvSpPr>
          <p:cNvPr id="35" name="Content Placeholder 34">
            <a:extLst>
              <a:ext uri="{FF2B5EF4-FFF2-40B4-BE49-F238E27FC236}">
                <a16:creationId xmlns:a16="http://schemas.microsoft.com/office/drawing/2014/main" id="{22345CC8-6E52-DC53-A832-68B4267BD3DA}"/>
              </a:ext>
            </a:extLst>
          </p:cNvPr>
          <p:cNvSpPr>
            <a:spLocks noGrp="1"/>
          </p:cNvSpPr>
          <p:nvPr>
            <p:ph idx="1"/>
          </p:nvPr>
        </p:nvSpPr>
        <p:spPr>
          <a:xfrm>
            <a:off x="677334" y="2351314"/>
            <a:ext cx="8596668" cy="3690048"/>
          </a:xfrm>
        </p:spPr>
        <p:txBody>
          <a:bodyPr vert="horz" lIns="91440" tIns="45720" rIns="91440" bIns="45720" rtlCol="0" anchor="t">
            <a:normAutofit/>
          </a:bodyPr>
          <a:lstStyle/>
          <a:p>
            <a:r>
              <a:rPr lang="en-US"/>
              <a:t>Introduction</a:t>
            </a:r>
          </a:p>
          <a:p>
            <a:r>
              <a:rPr lang="en-US"/>
              <a:t>Objective</a:t>
            </a:r>
          </a:p>
          <a:p>
            <a:r>
              <a:rPr lang="en-US"/>
              <a:t>Block diagram</a:t>
            </a:r>
          </a:p>
          <a:p>
            <a:r>
              <a:rPr lang="en-US"/>
              <a:t>Hardware require</a:t>
            </a:r>
          </a:p>
          <a:p>
            <a:r>
              <a:rPr lang="en-US"/>
              <a:t>Components require</a:t>
            </a:r>
          </a:p>
          <a:p>
            <a:r>
              <a:rPr lang="en-US"/>
              <a:t>Advantages</a:t>
            </a:r>
          </a:p>
          <a:p>
            <a:r>
              <a:rPr lang="en-US"/>
              <a:t>Reference</a:t>
            </a:r>
          </a:p>
          <a:p>
            <a:endParaRPr lang="en-US"/>
          </a:p>
          <a:p>
            <a:endParaRPr lang="en-US"/>
          </a:p>
        </p:txBody>
      </p:sp>
    </p:spTree>
    <p:extLst>
      <p:ext uri="{BB962C8B-B14F-4D97-AF65-F5344CB8AC3E}">
        <p14:creationId xmlns:p14="http://schemas.microsoft.com/office/powerpoint/2010/main" val="116783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ED1E5-C3D7-1ABF-092C-A8F60DCA9A68}"/>
              </a:ext>
            </a:extLst>
          </p:cNvPr>
          <p:cNvSpPr>
            <a:spLocks noGrp="1"/>
          </p:cNvSpPr>
          <p:nvPr>
            <p:ph type="title"/>
          </p:nvPr>
        </p:nvSpPr>
        <p:spPr>
          <a:xfrm>
            <a:off x="1066800" y="1030311"/>
            <a:ext cx="8905141" cy="1359356"/>
          </a:xfrm>
        </p:spPr>
        <p:txBody>
          <a:bodyPr anchor="ctr">
            <a:normAutofit/>
          </a:bodyPr>
          <a:lstStyle/>
          <a:p>
            <a:r>
              <a:rPr lang="en-US" sz="4800" b="1"/>
              <a:t>INTRODUCTION</a:t>
            </a:r>
          </a:p>
        </p:txBody>
      </p:sp>
      <p:sp>
        <p:nvSpPr>
          <p:cNvPr id="3" name="Content Placeholder 2">
            <a:extLst>
              <a:ext uri="{FF2B5EF4-FFF2-40B4-BE49-F238E27FC236}">
                <a16:creationId xmlns:a16="http://schemas.microsoft.com/office/drawing/2014/main" id="{D36D9E6D-21DA-9C68-977A-C8F371FA624E}"/>
              </a:ext>
            </a:extLst>
          </p:cNvPr>
          <p:cNvSpPr>
            <a:spLocks noGrp="1"/>
          </p:cNvSpPr>
          <p:nvPr>
            <p:ph idx="1"/>
          </p:nvPr>
        </p:nvSpPr>
        <p:spPr>
          <a:xfrm>
            <a:off x="1063102" y="2385692"/>
            <a:ext cx="8897797" cy="3793133"/>
          </a:xfrm>
        </p:spPr>
        <p:txBody>
          <a:bodyPr vert="horz" lIns="91440" tIns="45720" rIns="91440" bIns="45720" rtlCol="0" anchor="t">
            <a:normAutofit/>
          </a:bodyPr>
          <a:lstStyle/>
          <a:p>
            <a:r>
              <a:rPr lang="en-US">
                <a:ea typeface="+mn-lt"/>
                <a:cs typeface="+mn-lt"/>
              </a:rPr>
              <a:t>The project IOT-based gas level detection and automatic booking notification was proposed to save the time.</a:t>
            </a:r>
          </a:p>
          <a:p>
            <a:r>
              <a:rPr lang="en-US">
                <a:ea typeface="+mn-lt"/>
                <a:cs typeface="+mn-lt"/>
              </a:rPr>
              <a:t> LPG is a byproduct in the extraction of petroleum. LPG is used in different fields as a fuel. Like in cooking, welding, etc., LPG usage is increasing steeply day by day. </a:t>
            </a:r>
          </a:p>
          <a:p>
            <a:r>
              <a:rPr lang="en-US">
                <a:ea typeface="+mn-lt"/>
                <a:cs typeface="+mn-lt"/>
              </a:rPr>
              <a:t>Now-a-days booking an LPG cylinder is an uncertain process. When we make a call to gas agency our call may not be connected or booking cannot be recorded. This creates more doubts in people’s mind. If we noticed well before the completion of gas, we don’t need to buy in black which save money.</a:t>
            </a:r>
          </a:p>
          <a:p>
            <a:r>
              <a:rPr lang="en-US">
                <a:ea typeface="+mn-lt"/>
                <a:cs typeface="+mn-lt"/>
              </a:rPr>
              <a:t> If any gas leakage detects or fire we have given a buzzer sound with a notification to the mobile and exhaust fan will be turned on.</a:t>
            </a:r>
            <a:endParaRPr lang="en-US"/>
          </a:p>
        </p:txBody>
      </p:sp>
    </p:spTree>
    <p:extLst>
      <p:ext uri="{BB962C8B-B14F-4D97-AF65-F5344CB8AC3E}">
        <p14:creationId xmlns:p14="http://schemas.microsoft.com/office/powerpoint/2010/main" val="2388528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68DB6-A0CD-1F77-6120-2946A7B341CA}"/>
              </a:ext>
            </a:extLst>
          </p:cNvPr>
          <p:cNvSpPr>
            <a:spLocks noGrp="1"/>
          </p:cNvSpPr>
          <p:nvPr>
            <p:ph type="title"/>
          </p:nvPr>
        </p:nvSpPr>
        <p:spPr>
          <a:xfrm>
            <a:off x="1260528" y="1030311"/>
            <a:ext cx="8711413" cy="1372271"/>
          </a:xfrm>
        </p:spPr>
        <p:txBody>
          <a:bodyPr anchor="ctr">
            <a:normAutofit/>
          </a:bodyPr>
          <a:lstStyle/>
          <a:p>
            <a:r>
              <a:rPr lang="en-US" sz="4800" b="1"/>
              <a:t>OBJECTIVE</a:t>
            </a:r>
          </a:p>
        </p:txBody>
      </p:sp>
      <p:sp>
        <p:nvSpPr>
          <p:cNvPr id="80" name="Content Placeholder 61">
            <a:extLst>
              <a:ext uri="{FF2B5EF4-FFF2-40B4-BE49-F238E27FC236}">
                <a16:creationId xmlns:a16="http://schemas.microsoft.com/office/drawing/2014/main" id="{E230ECAA-F813-8259-DF81-8AF50DBE865B}"/>
              </a:ext>
            </a:extLst>
          </p:cNvPr>
          <p:cNvSpPr>
            <a:spLocks noGrp="1"/>
          </p:cNvSpPr>
          <p:nvPr>
            <p:ph idx="1"/>
          </p:nvPr>
        </p:nvSpPr>
        <p:spPr>
          <a:xfrm>
            <a:off x="1272928" y="2401785"/>
            <a:ext cx="8500232" cy="3313215"/>
          </a:xfrm>
        </p:spPr>
        <p:txBody>
          <a:bodyPr vert="horz" lIns="91440" tIns="45720" rIns="91440" bIns="45720" rtlCol="0" anchor="t">
            <a:noAutofit/>
          </a:bodyPr>
          <a:lstStyle/>
          <a:p>
            <a:pPr>
              <a:lnSpc>
                <a:spcPct val="110000"/>
              </a:lnSpc>
            </a:pPr>
            <a:r>
              <a:rPr lang="en-US"/>
              <a:t>Detection of LPG gas level within the cylinder and sending the notification SMS to user.</a:t>
            </a:r>
          </a:p>
          <a:p>
            <a:pPr>
              <a:lnSpc>
                <a:spcPct val="110000"/>
              </a:lnSpc>
            </a:pPr>
            <a:r>
              <a:rPr lang="en-US"/>
              <a:t> Real time gas observation system Automatically book the Gas cylinder.</a:t>
            </a:r>
          </a:p>
          <a:p>
            <a:pPr>
              <a:lnSpc>
                <a:spcPct val="110000"/>
              </a:lnSpc>
            </a:pPr>
            <a:r>
              <a:rPr lang="en-US"/>
              <a:t> LPG leak is detected through the sensor and information is sent to the user by SMS.</a:t>
            </a:r>
          </a:p>
          <a:p>
            <a:pPr>
              <a:lnSpc>
                <a:spcPct val="110000"/>
              </a:lnSpc>
            </a:pPr>
            <a:r>
              <a:rPr lang="en-US"/>
              <a:t>  Users don't need to enter any info manually as all the specified information is stored. </a:t>
            </a:r>
          </a:p>
          <a:p>
            <a:pPr>
              <a:lnSpc>
                <a:spcPct val="110000"/>
              </a:lnSpc>
            </a:pPr>
            <a:r>
              <a:rPr lang="en-US"/>
              <a:t>To give daily statistics of gas consumption to use</a:t>
            </a:r>
          </a:p>
          <a:p>
            <a:endParaRPr lang="en-US"/>
          </a:p>
        </p:txBody>
      </p:sp>
    </p:spTree>
    <p:extLst>
      <p:ext uri="{BB962C8B-B14F-4D97-AF65-F5344CB8AC3E}">
        <p14:creationId xmlns:p14="http://schemas.microsoft.com/office/powerpoint/2010/main" val="1059884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63BD-A86F-881E-80F8-42BA66952474}"/>
              </a:ext>
            </a:extLst>
          </p:cNvPr>
          <p:cNvSpPr>
            <a:spLocks noGrp="1"/>
          </p:cNvSpPr>
          <p:nvPr>
            <p:ph type="title"/>
          </p:nvPr>
        </p:nvSpPr>
        <p:spPr>
          <a:xfrm>
            <a:off x="1066800" y="715351"/>
            <a:ext cx="8905141" cy="709116"/>
          </a:xfrm>
        </p:spPr>
        <p:txBody>
          <a:bodyPr anchor="ctr">
            <a:normAutofit fontScale="90000"/>
          </a:bodyPr>
          <a:lstStyle/>
          <a:p>
            <a:r>
              <a:rPr lang="en-US" sz="4800" b="1"/>
              <a:t>BLOCK DIAGRAM</a:t>
            </a:r>
          </a:p>
        </p:txBody>
      </p:sp>
      <p:pic>
        <p:nvPicPr>
          <p:cNvPr id="5" name="Content Placeholder 4" descr="A diagram of a computer system&#10;&#10;Description automatically generated">
            <a:extLst>
              <a:ext uri="{FF2B5EF4-FFF2-40B4-BE49-F238E27FC236}">
                <a16:creationId xmlns:a16="http://schemas.microsoft.com/office/drawing/2014/main" id="{26876284-857F-CA6F-D626-B1EBBA2FA2D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07297" y="1733550"/>
            <a:ext cx="4429644" cy="451961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652049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5CEAD-D0A6-A50C-0F71-D4D37CDA03F8}"/>
              </a:ext>
            </a:extLst>
          </p:cNvPr>
          <p:cNvSpPr>
            <a:spLocks noGrp="1"/>
          </p:cNvSpPr>
          <p:nvPr>
            <p:ph type="title"/>
          </p:nvPr>
        </p:nvSpPr>
        <p:spPr/>
        <p:txBody>
          <a:bodyPr>
            <a:normAutofit/>
          </a:bodyPr>
          <a:lstStyle/>
          <a:p>
            <a:r>
              <a:rPr lang="en-US" sz="4800" b="1"/>
              <a:t>FLOWCHART</a:t>
            </a:r>
          </a:p>
        </p:txBody>
      </p:sp>
      <p:pic>
        <p:nvPicPr>
          <p:cNvPr id="4" name="Content Placeholder 3" descr="A flowchart of a program&#10;&#10;Description automatically generated">
            <a:extLst>
              <a:ext uri="{FF2B5EF4-FFF2-40B4-BE49-F238E27FC236}">
                <a16:creationId xmlns:a16="http://schemas.microsoft.com/office/drawing/2014/main" id="{DD7A48B6-A9A8-54B3-CE64-042EFBC59742}"/>
              </a:ext>
            </a:extLst>
          </p:cNvPr>
          <p:cNvPicPr>
            <a:picLocks noGrp="1" noChangeAspect="1"/>
          </p:cNvPicPr>
          <p:nvPr>
            <p:ph idx="1"/>
          </p:nvPr>
        </p:nvPicPr>
        <p:blipFill>
          <a:blip r:embed="rId2"/>
          <a:stretch>
            <a:fillRect/>
          </a:stretch>
        </p:blipFill>
        <p:spPr>
          <a:xfrm>
            <a:off x="4481270" y="338762"/>
            <a:ext cx="6387372" cy="6297474"/>
          </a:xfrm>
        </p:spPr>
      </p:pic>
    </p:spTree>
    <p:extLst>
      <p:ext uri="{BB962C8B-B14F-4D97-AF65-F5344CB8AC3E}">
        <p14:creationId xmlns:p14="http://schemas.microsoft.com/office/powerpoint/2010/main" val="1225498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891EE-7E6A-C0F4-7370-A4EA13E27EAD}"/>
              </a:ext>
            </a:extLst>
          </p:cNvPr>
          <p:cNvSpPr>
            <a:spLocks noGrp="1"/>
          </p:cNvSpPr>
          <p:nvPr>
            <p:ph type="title"/>
          </p:nvPr>
        </p:nvSpPr>
        <p:spPr>
          <a:xfrm>
            <a:off x="1066800" y="1030311"/>
            <a:ext cx="8905141" cy="1359356"/>
          </a:xfrm>
        </p:spPr>
        <p:txBody>
          <a:bodyPr anchor="ctr">
            <a:normAutofit/>
          </a:bodyPr>
          <a:lstStyle/>
          <a:p>
            <a:r>
              <a:rPr lang="en-US" sz="4800"/>
              <a:t>SOFTWARE USED</a:t>
            </a:r>
          </a:p>
        </p:txBody>
      </p:sp>
      <p:sp>
        <p:nvSpPr>
          <p:cNvPr id="25" name="Content Placeholder 2">
            <a:extLst>
              <a:ext uri="{FF2B5EF4-FFF2-40B4-BE49-F238E27FC236}">
                <a16:creationId xmlns:a16="http://schemas.microsoft.com/office/drawing/2014/main" id="{2F843B87-4CDD-2EF7-8AAB-913D5A1855E2}"/>
              </a:ext>
            </a:extLst>
          </p:cNvPr>
          <p:cNvSpPr>
            <a:spLocks noGrp="1"/>
          </p:cNvSpPr>
          <p:nvPr>
            <p:ph idx="1"/>
          </p:nvPr>
        </p:nvSpPr>
        <p:spPr>
          <a:xfrm>
            <a:off x="1339189" y="2245599"/>
            <a:ext cx="8916731" cy="4352879"/>
          </a:xfrm>
        </p:spPr>
        <p:txBody>
          <a:bodyPr vert="horz" lIns="91440" tIns="45720" rIns="91440" bIns="45720" rtlCol="0" anchor="t">
            <a:normAutofit lnSpcReduction="10000"/>
          </a:bodyPr>
          <a:lstStyle/>
          <a:p>
            <a:pPr marL="457200" indent="-457200">
              <a:buAutoNum type="arabicPeriod"/>
            </a:pPr>
            <a:r>
              <a:rPr lang="en-US" sz="2000" b="1">
                <a:ea typeface="+mn-lt"/>
                <a:cs typeface="+mn-lt"/>
              </a:rPr>
              <a:t>Arduino IDE (Programming)</a:t>
            </a:r>
            <a:r>
              <a:rPr lang="en-US" sz="2000">
                <a:ea typeface="+mn-lt"/>
                <a:cs typeface="+mn-lt"/>
              </a:rPr>
              <a:t> </a:t>
            </a:r>
            <a:endParaRPr lang="en-US"/>
          </a:p>
          <a:p>
            <a:pPr marL="0" indent="0">
              <a:buNone/>
            </a:pPr>
            <a:r>
              <a:rPr lang="en-US">
                <a:ea typeface="+mn-lt"/>
                <a:cs typeface="+mn-lt"/>
              </a:rPr>
              <a:t>Arduino is a prototype platform (open-source) based on an easy-to-use               hardware and software. It consists of a circuit board, which can be programed (referred to as a microcontroller) and a ready-made software called Arduino IDE (Integrated Development Environment), which is used to write and upload the computer code to the physical board</a:t>
            </a:r>
            <a:endParaRPr lang="en-US" sz="2000" b="1">
              <a:ea typeface="+mn-lt"/>
              <a:cs typeface="+mn-lt"/>
            </a:endParaRPr>
          </a:p>
          <a:p>
            <a:pPr marL="0" indent="0">
              <a:buNone/>
            </a:pPr>
            <a:r>
              <a:rPr lang="en-US" sz="2000" b="1">
                <a:ea typeface="+mn-lt"/>
                <a:cs typeface="+mn-lt"/>
              </a:rPr>
              <a:t>2.</a:t>
            </a:r>
            <a:r>
              <a:rPr lang="en-US" sz="2000">
                <a:ea typeface="+mn-lt"/>
                <a:cs typeface="+mn-lt"/>
              </a:rPr>
              <a:t>   </a:t>
            </a:r>
            <a:r>
              <a:rPr lang="en-US" sz="2000" b="1">
                <a:ea typeface="+mn-lt"/>
                <a:cs typeface="+mn-lt"/>
              </a:rPr>
              <a:t>Express PCB (Circuit And layout design)</a:t>
            </a:r>
            <a:endParaRPr lang="en-US" sz="2000" b="1"/>
          </a:p>
          <a:p>
            <a:pPr marL="0" indent="0">
              <a:buNone/>
            </a:pPr>
            <a:r>
              <a:rPr lang="en-US">
                <a:ea typeface="+mn-lt"/>
                <a:cs typeface="+mn-lt"/>
              </a:rPr>
              <a:t>Design of a PCB using layout software from </a:t>
            </a:r>
            <a:r>
              <a:rPr lang="en-US" err="1">
                <a:ea typeface="+mn-lt"/>
                <a:cs typeface="+mn-lt"/>
              </a:rPr>
              <a:t>ExpressPCB</a:t>
            </a:r>
            <a:r>
              <a:rPr lang="en-US">
                <a:ea typeface="+mn-lt"/>
                <a:cs typeface="+mn-lt"/>
              </a:rPr>
              <a:t>, which is freeware available at www.expresspcb.com. Before beginning you should make sure your computer has both </a:t>
            </a:r>
            <a:r>
              <a:rPr lang="en-US" err="1">
                <a:ea typeface="+mn-lt"/>
                <a:cs typeface="+mn-lt"/>
              </a:rPr>
              <a:t>ExpressPCB</a:t>
            </a:r>
            <a:r>
              <a:rPr lang="en-US">
                <a:ea typeface="+mn-lt"/>
                <a:cs typeface="+mn-lt"/>
              </a:rPr>
              <a:t> and </a:t>
            </a:r>
            <a:r>
              <a:rPr lang="en-US" err="1">
                <a:ea typeface="+mn-lt"/>
                <a:cs typeface="+mn-lt"/>
              </a:rPr>
              <a:t>ExpressSCH</a:t>
            </a:r>
            <a:r>
              <a:rPr lang="en-US">
                <a:ea typeface="+mn-lt"/>
                <a:cs typeface="+mn-lt"/>
              </a:rPr>
              <a:t>, if not than you should download the software. Before beginning the PCB process, you should come up with the initial design, build it and test it on a breadboard, fix any errors, and determine specific components. It is also useful to have datasheets and dimensions for all of the “special” components such as transistors, ICs, sensors, actuators, etc., on hand.</a:t>
            </a:r>
            <a:endParaRPr lang="en-US"/>
          </a:p>
        </p:txBody>
      </p:sp>
    </p:spTree>
    <p:extLst>
      <p:ext uri="{BB962C8B-B14F-4D97-AF65-F5344CB8AC3E}">
        <p14:creationId xmlns:p14="http://schemas.microsoft.com/office/powerpoint/2010/main" val="4124127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032EE-4FDB-0847-4296-3876FEA7FCAA}"/>
              </a:ext>
            </a:extLst>
          </p:cNvPr>
          <p:cNvSpPr>
            <a:spLocks noGrp="1"/>
          </p:cNvSpPr>
          <p:nvPr>
            <p:ph type="title"/>
          </p:nvPr>
        </p:nvSpPr>
        <p:spPr>
          <a:xfrm>
            <a:off x="1066800" y="1030311"/>
            <a:ext cx="8905141" cy="1359356"/>
          </a:xfrm>
        </p:spPr>
        <p:txBody>
          <a:bodyPr anchor="ctr">
            <a:normAutofit/>
          </a:bodyPr>
          <a:lstStyle/>
          <a:p>
            <a:r>
              <a:rPr lang="en-US" sz="4800"/>
              <a:t>COMPONENTS REQUIRE</a:t>
            </a:r>
          </a:p>
        </p:txBody>
      </p:sp>
      <p:sp>
        <p:nvSpPr>
          <p:cNvPr id="3" name="Content Placeholder 2">
            <a:extLst>
              <a:ext uri="{FF2B5EF4-FFF2-40B4-BE49-F238E27FC236}">
                <a16:creationId xmlns:a16="http://schemas.microsoft.com/office/drawing/2014/main" id="{D3BF04BC-6517-D096-6120-BABE845221CD}"/>
              </a:ext>
            </a:extLst>
          </p:cNvPr>
          <p:cNvSpPr>
            <a:spLocks noGrp="1"/>
          </p:cNvSpPr>
          <p:nvPr>
            <p:ph idx="1"/>
          </p:nvPr>
        </p:nvSpPr>
        <p:spPr>
          <a:xfrm>
            <a:off x="1339189" y="2390899"/>
            <a:ext cx="7848667" cy="4260272"/>
          </a:xfrm>
        </p:spPr>
        <p:txBody>
          <a:bodyPr vert="horz" lIns="91440" tIns="45720" rIns="91440" bIns="45720" rtlCol="0" anchor="t">
            <a:noAutofit/>
          </a:bodyPr>
          <a:lstStyle/>
          <a:p>
            <a:pPr marL="285750" indent="-285750"/>
            <a:r>
              <a:rPr lang="en-US">
                <a:ea typeface="+mn-lt"/>
                <a:cs typeface="+mn-lt"/>
              </a:rPr>
              <a:t>Microcontroller (AT mega 328)</a:t>
            </a:r>
            <a:endParaRPr lang="en-US"/>
          </a:p>
          <a:p>
            <a:r>
              <a:rPr lang="en-US">
                <a:ea typeface="+mn-lt"/>
                <a:cs typeface="+mn-lt"/>
              </a:rPr>
              <a:t>Regulator (LM2596)</a:t>
            </a:r>
            <a:endParaRPr lang="en-US"/>
          </a:p>
          <a:p>
            <a:r>
              <a:rPr lang="en-US">
                <a:ea typeface="+mn-lt"/>
                <a:cs typeface="+mn-lt"/>
              </a:rPr>
              <a:t>Lcd 16*2</a:t>
            </a:r>
            <a:endParaRPr lang="en-US"/>
          </a:p>
          <a:p>
            <a:r>
              <a:rPr lang="en-US">
                <a:ea typeface="+mn-lt"/>
                <a:cs typeface="+mn-lt"/>
              </a:rPr>
              <a:t>Esp8266 (</a:t>
            </a:r>
            <a:r>
              <a:rPr lang="en-US" err="1">
                <a:ea typeface="+mn-lt"/>
                <a:cs typeface="+mn-lt"/>
              </a:rPr>
              <a:t>wifi</a:t>
            </a:r>
            <a:r>
              <a:rPr lang="en-US">
                <a:ea typeface="+mn-lt"/>
                <a:cs typeface="+mn-lt"/>
              </a:rPr>
              <a:t> module)</a:t>
            </a:r>
            <a:endParaRPr lang="en-US"/>
          </a:p>
          <a:p>
            <a:r>
              <a:rPr lang="en-US">
                <a:ea typeface="+mn-lt"/>
                <a:cs typeface="+mn-lt"/>
              </a:rPr>
              <a:t>GSM Module </a:t>
            </a:r>
            <a:endParaRPr lang="en-US"/>
          </a:p>
          <a:p>
            <a:r>
              <a:rPr lang="en-US">
                <a:ea typeface="+mn-lt"/>
                <a:cs typeface="+mn-lt"/>
              </a:rPr>
              <a:t>Servo Motor sg90</a:t>
            </a:r>
            <a:endParaRPr lang="en-US"/>
          </a:p>
          <a:p>
            <a:r>
              <a:rPr lang="en-US">
                <a:ea typeface="+mn-lt"/>
                <a:cs typeface="+mn-lt"/>
              </a:rPr>
              <a:t>LPG MQ6</a:t>
            </a:r>
            <a:endParaRPr lang="en-US"/>
          </a:p>
          <a:p>
            <a:r>
              <a:rPr lang="en-US">
                <a:ea typeface="+mn-lt"/>
                <a:cs typeface="+mn-lt"/>
              </a:rPr>
              <a:t>Load Cell</a:t>
            </a:r>
            <a:endParaRPr lang="en-US"/>
          </a:p>
          <a:p>
            <a:r>
              <a:rPr lang="en-US">
                <a:ea typeface="+mn-lt"/>
                <a:cs typeface="+mn-lt"/>
              </a:rPr>
              <a:t>HX711</a:t>
            </a:r>
            <a:endParaRPr lang="en-US"/>
          </a:p>
          <a:p>
            <a:endParaRPr lang="en-US"/>
          </a:p>
        </p:txBody>
      </p:sp>
    </p:spTree>
    <p:extLst>
      <p:ext uri="{BB962C8B-B14F-4D97-AF65-F5344CB8AC3E}">
        <p14:creationId xmlns:p14="http://schemas.microsoft.com/office/powerpoint/2010/main" val="4046993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758D7-86D5-1028-86B8-CED2E57DE95C}"/>
              </a:ext>
            </a:extLst>
          </p:cNvPr>
          <p:cNvSpPr>
            <a:spLocks noGrp="1"/>
          </p:cNvSpPr>
          <p:nvPr>
            <p:ph type="title"/>
          </p:nvPr>
        </p:nvSpPr>
        <p:spPr>
          <a:xfrm>
            <a:off x="1066800" y="1030311"/>
            <a:ext cx="8905141" cy="888628"/>
          </a:xfrm>
        </p:spPr>
        <p:txBody>
          <a:bodyPr vert="horz" lIns="91440" tIns="45720" rIns="91440" bIns="45720" rtlCol="0" anchor="ctr">
            <a:noAutofit/>
          </a:bodyPr>
          <a:lstStyle/>
          <a:p>
            <a:r>
              <a:rPr lang="en-US" sz="4800" b="1"/>
              <a:t>MICROCONTROLLER</a:t>
            </a:r>
            <a:br>
              <a:rPr lang="en-US" sz="4800" b="1"/>
            </a:br>
            <a:r>
              <a:rPr lang="en-US" sz="4800" b="1"/>
              <a:t>(AT MEGA 328)</a:t>
            </a:r>
          </a:p>
        </p:txBody>
      </p:sp>
      <p:pic>
        <p:nvPicPr>
          <p:cNvPr id="4" name="Content Placeholder 3" descr="A black microchip with white text&#10;&#10;Description automatically generated">
            <a:extLst>
              <a:ext uri="{FF2B5EF4-FFF2-40B4-BE49-F238E27FC236}">
                <a16:creationId xmlns:a16="http://schemas.microsoft.com/office/drawing/2014/main" id="{4FB7DFD7-2262-B99D-952E-A147A8E1EEB1}"/>
              </a:ext>
            </a:extLst>
          </p:cNvPr>
          <p:cNvPicPr>
            <a:picLocks noGrp="1" noChangeAspect="1"/>
          </p:cNvPicPr>
          <p:nvPr>
            <p:ph idx="1"/>
          </p:nvPr>
        </p:nvPicPr>
        <p:blipFill>
          <a:blip r:embed="rId2"/>
          <a:stretch>
            <a:fillRect/>
          </a:stretch>
        </p:blipFill>
        <p:spPr>
          <a:xfrm>
            <a:off x="739307" y="2925422"/>
            <a:ext cx="3258725" cy="287020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Box 2">
            <a:extLst>
              <a:ext uri="{FF2B5EF4-FFF2-40B4-BE49-F238E27FC236}">
                <a16:creationId xmlns:a16="http://schemas.microsoft.com/office/drawing/2014/main" id="{FDD3E0FE-AA45-C575-DC06-507CBCE17EC2}"/>
              </a:ext>
            </a:extLst>
          </p:cNvPr>
          <p:cNvSpPr txBox="1"/>
          <p:nvPr/>
        </p:nvSpPr>
        <p:spPr>
          <a:xfrm>
            <a:off x="4267200" y="3222171"/>
            <a:ext cx="669471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a:p>
            <a:endParaRPr lang="en-US"/>
          </a:p>
        </p:txBody>
      </p:sp>
      <p:sp>
        <p:nvSpPr>
          <p:cNvPr id="5" name="TextBox 4">
            <a:extLst>
              <a:ext uri="{FF2B5EF4-FFF2-40B4-BE49-F238E27FC236}">
                <a16:creationId xmlns:a16="http://schemas.microsoft.com/office/drawing/2014/main" id="{07D7C8B9-425E-112D-6A4B-8EF4ACBAF055}"/>
              </a:ext>
            </a:extLst>
          </p:cNvPr>
          <p:cNvSpPr txBox="1"/>
          <p:nvPr/>
        </p:nvSpPr>
        <p:spPr>
          <a:xfrm>
            <a:off x="4451249" y="2928190"/>
            <a:ext cx="5966876" cy="2862322"/>
          </a:xfrm>
          <a:prstGeom prst="rect">
            <a:avLst/>
          </a:prstGeom>
          <a:noFill/>
        </p:spPr>
        <p:txBody>
          <a:bodyPr wrap="square" rtlCol="0">
            <a:spAutoFit/>
          </a:bodyPr>
          <a:lstStyle/>
          <a:p>
            <a:pPr marL="285750" indent="-285750">
              <a:buFont typeface="Arial" panose="020B0604020202020204" pitchFamily="34" charset="0"/>
              <a:buChar char="•"/>
            </a:pPr>
            <a:r>
              <a:rPr lang="en-US"/>
              <a:t>Atmega328 is a low power CMOS 8-bit microcontroller based on the AVR enhanced RISC architecture.</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By executing powerful instructions in a single clock cycle.</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the controller achieves throughputs approaching 1 MIPS per MHz awing the system designer to optimize power consumption.</a:t>
            </a:r>
            <a:endParaRPr lang="en-IN"/>
          </a:p>
        </p:txBody>
      </p:sp>
    </p:spTree>
    <p:extLst>
      <p:ext uri="{BB962C8B-B14F-4D97-AF65-F5344CB8AC3E}">
        <p14:creationId xmlns:p14="http://schemas.microsoft.com/office/powerpoint/2010/main" val="4144926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B176C-B0CB-9A44-746A-5DB6CA1E6163}"/>
              </a:ext>
            </a:extLst>
          </p:cNvPr>
          <p:cNvSpPr>
            <a:spLocks noGrp="1"/>
          </p:cNvSpPr>
          <p:nvPr>
            <p:ph type="title"/>
          </p:nvPr>
        </p:nvSpPr>
        <p:spPr>
          <a:xfrm>
            <a:off x="1066800" y="1030311"/>
            <a:ext cx="8905141" cy="874758"/>
          </a:xfrm>
        </p:spPr>
        <p:txBody>
          <a:bodyPr anchor="ctr">
            <a:normAutofit/>
          </a:bodyPr>
          <a:lstStyle/>
          <a:p>
            <a:r>
              <a:rPr lang="en-US" sz="4800" b="1"/>
              <a:t>Regulator (LM7805)</a:t>
            </a:r>
          </a:p>
        </p:txBody>
      </p:sp>
      <p:pic>
        <p:nvPicPr>
          <p:cNvPr id="23" name="Content Placeholder 22" descr="A diagram of a circuit diagram&#10;&#10;Description automatically generated">
            <a:extLst>
              <a:ext uri="{FF2B5EF4-FFF2-40B4-BE49-F238E27FC236}">
                <a16:creationId xmlns:a16="http://schemas.microsoft.com/office/drawing/2014/main" id="{9F48AB43-6859-6BF0-D585-741658BA9C59}"/>
              </a:ext>
            </a:extLst>
          </p:cNvPr>
          <p:cNvPicPr>
            <a:picLocks noGrp="1" noChangeAspect="1"/>
          </p:cNvPicPr>
          <p:nvPr>
            <p:ph idx="1"/>
          </p:nvPr>
        </p:nvPicPr>
        <p:blipFill>
          <a:blip r:embed="rId2"/>
          <a:stretch>
            <a:fillRect/>
          </a:stretch>
        </p:blipFill>
        <p:spPr>
          <a:xfrm>
            <a:off x="1197148" y="2668378"/>
            <a:ext cx="3545271" cy="341462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11A21B10-CE14-0DDC-5210-8EEF3679DBF4}"/>
              </a:ext>
            </a:extLst>
          </p:cNvPr>
          <p:cNvSpPr txBox="1"/>
          <p:nvPr/>
        </p:nvSpPr>
        <p:spPr>
          <a:xfrm>
            <a:off x="5521740" y="2525486"/>
            <a:ext cx="5490770" cy="3704362"/>
          </a:xfrm>
          <a:prstGeom prst="rect">
            <a:avLst/>
          </a:prstGeom>
          <a:noFill/>
          <a:ln>
            <a:solidFill>
              <a:srgbClr val="4472C4"/>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Sans-Serif"/>
              <a:buChar char="•"/>
            </a:pPr>
            <a:r>
              <a:rPr lang="en-US"/>
              <a:t>The 7805 is a well-known linear voltage regulator that steps down higher voltage to a stable 5V output.</a:t>
            </a:r>
          </a:p>
          <a:p>
            <a:pPr marL="342900" indent="-342900">
              <a:buFont typeface="Arial,Sans-Serif"/>
              <a:buChar char="•"/>
            </a:pPr>
            <a:endParaRPr lang="en-US"/>
          </a:p>
          <a:p>
            <a:pPr marL="342900" indent="-342900">
              <a:buFont typeface="Arial,Sans-Serif"/>
              <a:buChar char="•"/>
            </a:pPr>
            <a:r>
              <a:rPr lang="en-US"/>
              <a:t>It is widely used in circuits that require a reliable 5V DC power supply.</a:t>
            </a:r>
          </a:p>
          <a:p>
            <a:pPr marL="342900" indent="-342900">
              <a:buFont typeface="Arial,Sans-Serif"/>
              <a:buChar char="•"/>
            </a:pPr>
            <a:endParaRPr lang="en-US"/>
          </a:p>
          <a:p>
            <a:pPr marL="342900" indent="-342900">
              <a:buFont typeface="Arial,Sans-Serif"/>
              <a:buChar char="•"/>
            </a:pPr>
            <a:r>
              <a:rPr lang="en-US"/>
              <a:t>Pin Layout:</a:t>
            </a:r>
          </a:p>
          <a:p>
            <a:pPr marL="800100" lvl="1" indent="-342900">
              <a:buFontTx/>
              <a:buAutoNum type="arabicPeriod"/>
            </a:pPr>
            <a:r>
              <a:rPr lang="en-US"/>
              <a:t>Input: Connects to the higher voltage supply (7V–35V).</a:t>
            </a:r>
          </a:p>
          <a:p>
            <a:pPr marL="800100" lvl="1" indent="-342900">
              <a:buFontTx/>
              <a:buAutoNum type="arabicPeriod"/>
            </a:pPr>
            <a:r>
              <a:rPr lang="en-US"/>
              <a:t>Ground: Common ground.</a:t>
            </a:r>
          </a:p>
          <a:p>
            <a:pPr marL="800100" lvl="1" indent="-342900">
              <a:buFontTx/>
              <a:buAutoNum type="arabicPeriod"/>
            </a:pPr>
            <a:r>
              <a:rPr lang="en-US"/>
              <a:t>Output: Regulated 5V output.</a:t>
            </a:r>
          </a:p>
          <a:p>
            <a:pPr marL="742950" lvl="1" indent="-285750">
              <a:buFontTx/>
              <a:buAutoNum type="arabicPeriod"/>
            </a:pPr>
            <a:endParaRPr lang="en-US"/>
          </a:p>
        </p:txBody>
      </p:sp>
    </p:spTree>
    <p:extLst>
      <p:ext uri="{BB962C8B-B14F-4D97-AF65-F5344CB8AC3E}">
        <p14:creationId xmlns:p14="http://schemas.microsoft.com/office/powerpoint/2010/main" val="620797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3D6BE-1CC4-B627-AEAF-163DA279147D}"/>
              </a:ext>
            </a:extLst>
          </p:cNvPr>
          <p:cNvSpPr>
            <a:spLocks noGrp="1"/>
          </p:cNvSpPr>
          <p:nvPr>
            <p:ph type="title"/>
          </p:nvPr>
        </p:nvSpPr>
        <p:spPr>
          <a:xfrm>
            <a:off x="1066800" y="1030311"/>
            <a:ext cx="8905141" cy="717100"/>
          </a:xfrm>
        </p:spPr>
        <p:txBody>
          <a:bodyPr anchor="ctr">
            <a:noAutofit/>
          </a:bodyPr>
          <a:lstStyle/>
          <a:p>
            <a:r>
              <a:rPr lang="en-US" sz="4800" b="1"/>
              <a:t>Lcd 16*2</a:t>
            </a:r>
          </a:p>
        </p:txBody>
      </p:sp>
      <p:pic>
        <p:nvPicPr>
          <p:cNvPr id="9" name="Content Placeholder 8" descr="A close-up of a computer circuit board&#10;&#10;Description automatically generated">
            <a:extLst>
              <a:ext uri="{FF2B5EF4-FFF2-40B4-BE49-F238E27FC236}">
                <a16:creationId xmlns:a16="http://schemas.microsoft.com/office/drawing/2014/main" id="{E607378A-D091-0339-3321-57A557B18234}"/>
              </a:ext>
            </a:extLst>
          </p:cNvPr>
          <p:cNvPicPr>
            <a:picLocks noGrp="1" noChangeAspect="1"/>
          </p:cNvPicPr>
          <p:nvPr>
            <p:ph idx="1"/>
          </p:nvPr>
        </p:nvPicPr>
        <p:blipFill>
          <a:blip r:embed="rId2"/>
          <a:stretch>
            <a:fillRect/>
          </a:stretch>
        </p:blipFill>
        <p:spPr>
          <a:xfrm>
            <a:off x="899250" y="2650558"/>
            <a:ext cx="3799922" cy="31468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7BCBF623-B4EC-9573-1181-A6890A2854DB}"/>
              </a:ext>
            </a:extLst>
          </p:cNvPr>
          <p:cNvSpPr txBox="1"/>
          <p:nvPr/>
        </p:nvSpPr>
        <p:spPr>
          <a:xfrm>
            <a:off x="5510632" y="2645149"/>
            <a:ext cx="616685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mn-lt"/>
                <a:cs typeface="+mn-lt"/>
              </a:rPr>
              <a:t>The term LCD stands for liquid crystal display.</a:t>
            </a:r>
            <a:endParaRPr lang="en-US"/>
          </a:p>
          <a:p>
            <a:pPr marL="285750" indent="-285750">
              <a:buFont typeface="Arial"/>
              <a:buChar char="•"/>
            </a:pPr>
            <a:endParaRPr lang="en-US">
              <a:ea typeface="+mn-lt"/>
              <a:cs typeface="+mn-lt"/>
            </a:endParaRPr>
          </a:p>
          <a:p>
            <a:pPr marL="285750" indent="-285750">
              <a:buFont typeface="Arial"/>
              <a:buChar char="•"/>
            </a:pPr>
            <a:r>
              <a:rPr lang="en-US">
                <a:ea typeface="+mn-lt"/>
                <a:cs typeface="+mn-lt"/>
              </a:rPr>
              <a:t> It is one kind of electronic display module used in an extensive range of applications like various circuits &amp; devices like mobile phones, calculators, computers, TV sets, etc. </a:t>
            </a:r>
          </a:p>
          <a:p>
            <a:pPr marL="285750" indent="-285750">
              <a:buFont typeface="Arial"/>
              <a:buChar char="•"/>
            </a:pPr>
            <a:endParaRPr lang="en-US">
              <a:ea typeface="+mn-lt"/>
              <a:cs typeface="+mn-lt"/>
            </a:endParaRPr>
          </a:p>
          <a:p>
            <a:pPr marL="285750" indent="-285750">
              <a:buFont typeface="Arial"/>
              <a:buChar char="•"/>
            </a:pPr>
            <a:r>
              <a:rPr lang="en-US">
                <a:ea typeface="+mn-lt"/>
                <a:cs typeface="+mn-lt"/>
              </a:rPr>
              <a:t>These displays are mainly preferred for multi-segment light-emitting diodes and seven segments. </a:t>
            </a:r>
          </a:p>
          <a:p>
            <a:endParaRPr lang="en-US"/>
          </a:p>
        </p:txBody>
      </p:sp>
    </p:spTree>
    <p:extLst>
      <p:ext uri="{BB962C8B-B14F-4D97-AF65-F5344CB8AC3E}">
        <p14:creationId xmlns:p14="http://schemas.microsoft.com/office/powerpoint/2010/main" val="3215143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D8166-F0B8-257F-8C7E-B049E144A0D8}"/>
              </a:ext>
            </a:extLst>
          </p:cNvPr>
          <p:cNvSpPr>
            <a:spLocks noGrp="1"/>
          </p:cNvSpPr>
          <p:nvPr>
            <p:ph type="title"/>
          </p:nvPr>
        </p:nvSpPr>
        <p:spPr>
          <a:xfrm>
            <a:off x="1066800" y="901158"/>
            <a:ext cx="8905141" cy="819383"/>
          </a:xfrm>
        </p:spPr>
        <p:txBody>
          <a:bodyPr anchor="ctr">
            <a:normAutofit fontScale="90000"/>
          </a:bodyPr>
          <a:lstStyle/>
          <a:p>
            <a:r>
              <a:rPr lang="en-US" sz="4800" b="1"/>
              <a:t>ESP8266 (WI FI MODULE)</a:t>
            </a:r>
          </a:p>
        </p:txBody>
      </p:sp>
      <p:pic>
        <p:nvPicPr>
          <p:cNvPr id="4" name="Content Placeholder 3" descr="A black and yellow electronic device&#10;&#10;Description automatically generated">
            <a:extLst>
              <a:ext uri="{FF2B5EF4-FFF2-40B4-BE49-F238E27FC236}">
                <a16:creationId xmlns:a16="http://schemas.microsoft.com/office/drawing/2014/main" id="{C4F6A616-F3F5-D208-51EF-42E24EE2EB80}"/>
              </a:ext>
            </a:extLst>
          </p:cNvPr>
          <p:cNvPicPr>
            <a:picLocks noGrp="1" noChangeAspect="1"/>
          </p:cNvPicPr>
          <p:nvPr>
            <p:ph idx="1"/>
          </p:nvPr>
        </p:nvPicPr>
        <p:blipFill>
          <a:blip r:embed="rId2"/>
          <a:stretch>
            <a:fillRect/>
          </a:stretch>
        </p:blipFill>
        <p:spPr>
          <a:xfrm>
            <a:off x="1060905" y="2257244"/>
            <a:ext cx="3184663" cy="309093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Box 5">
            <a:extLst>
              <a:ext uri="{FF2B5EF4-FFF2-40B4-BE49-F238E27FC236}">
                <a16:creationId xmlns:a16="http://schemas.microsoft.com/office/drawing/2014/main" id="{D9336569-77F2-8E87-2A4D-770EB09A4A1D}"/>
              </a:ext>
            </a:extLst>
          </p:cNvPr>
          <p:cNvSpPr txBox="1"/>
          <p:nvPr/>
        </p:nvSpPr>
        <p:spPr>
          <a:xfrm>
            <a:off x="4903795" y="2257244"/>
            <a:ext cx="5761877" cy="2862322"/>
          </a:xfrm>
          <a:prstGeom prst="rect">
            <a:avLst/>
          </a:prstGeom>
          <a:noFill/>
        </p:spPr>
        <p:txBody>
          <a:bodyPr wrap="square" rtlCol="0">
            <a:spAutoFit/>
          </a:bodyPr>
          <a:lstStyle/>
          <a:p>
            <a:pPr marL="285750" indent="-285750">
              <a:buFont typeface="Arial" panose="020B0604020202020204" pitchFamily="34" charset="0"/>
              <a:buChar char="•"/>
            </a:pPr>
            <a:r>
              <a:rPr lang="en-US"/>
              <a:t>Atmega328 is a low power CMOS 8-bit microcontroller based on the AVR enhanced RISC architecture. </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By executing powerful instructions in a single clock cycle</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 the controller achieves throughputs approaching 1 MIPS per MHz awing the system designer to optimize power consumption.</a:t>
            </a:r>
            <a:endParaRPr lang="en-IN"/>
          </a:p>
        </p:txBody>
      </p:sp>
    </p:spTree>
    <p:extLst>
      <p:ext uri="{BB962C8B-B14F-4D97-AF65-F5344CB8AC3E}">
        <p14:creationId xmlns:p14="http://schemas.microsoft.com/office/powerpoint/2010/main" val="1353260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7A90A-84C4-0841-2813-51604E7D7431}"/>
              </a:ext>
            </a:extLst>
          </p:cNvPr>
          <p:cNvSpPr>
            <a:spLocks noGrp="1"/>
          </p:cNvSpPr>
          <p:nvPr>
            <p:ph type="title"/>
          </p:nvPr>
        </p:nvSpPr>
        <p:spPr>
          <a:xfrm>
            <a:off x="1066800" y="1030311"/>
            <a:ext cx="8905141" cy="1006931"/>
          </a:xfrm>
        </p:spPr>
        <p:txBody>
          <a:bodyPr anchor="ctr">
            <a:normAutofit/>
          </a:bodyPr>
          <a:lstStyle/>
          <a:p>
            <a:r>
              <a:rPr lang="en-US" sz="4400" b="1"/>
              <a:t>GSM MODULE</a:t>
            </a:r>
          </a:p>
        </p:txBody>
      </p:sp>
      <p:pic>
        <p:nvPicPr>
          <p:cNvPr id="5" name="Content Placeholder 4" descr="A small red and white electronic device&#10;&#10;Description automatically generated">
            <a:extLst>
              <a:ext uri="{FF2B5EF4-FFF2-40B4-BE49-F238E27FC236}">
                <a16:creationId xmlns:a16="http://schemas.microsoft.com/office/drawing/2014/main" id="{7F404034-8EC9-6E27-4350-44FC6761CF42}"/>
              </a:ext>
            </a:extLst>
          </p:cNvPr>
          <p:cNvPicPr>
            <a:picLocks noGrp="1" noChangeAspect="1"/>
          </p:cNvPicPr>
          <p:nvPr>
            <p:ph idx="1"/>
          </p:nvPr>
        </p:nvPicPr>
        <p:blipFill>
          <a:blip r:embed="rId2"/>
          <a:stretch>
            <a:fillRect/>
          </a:stretch>
        </p:blipFill>
        <p:spPr>
          <a:xfrm>
            <a:off x="1072178" y="2507003"/>
            <a:ext cx="3722341" cy="262903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8281E796-2AF9-5B99-5664-52400B436696}"/>
              </a:ext>
            </a:extLst>
          </p:cNvPr>
          <p:cNvSpPr txBox="1"/>
          <p:nvPr/>
        </p:nvSpPr>
        <p:spPr>
          <a:xfrm>
            <a:off x="5369134" y="2501551"/>
            <a:ext cx="6277486" cy="34132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20000"/>
              </a:lnSpc>
              <a:spcBef>
                <a:spcPts val="1000"/>
              </a:spcBef>
              <a:buFont typeface="Arial"/>
              <a:buChar char="•"/>
            </a:pPr>
            <a:r>
              <a:rPr lang="en-US"/>
              <a:t>The SIM800L is a popular GSM/GPRS (Global System for Mobile Communications/General Packet Radio Service) module.</a:t>
            </a:r>
          </a:p>
          <a:p>
            <a:pPr marL="285750" indent="-285750">
              <a:lnSpc>
                <a:spcPct val="120000"/>
              </a:lnSpc>
              <a:spcBef>
                <a:spcPts val="1000"/>
              </a:spcBef>
              <a:buFont typeface="Arial"/>
              <a:buChar char="•"/>
            </a:pPr>
            <a:r>
              <a:rPr lang="en-US"/>
              <a:t> manufactured by SIM Com</a:t>
            </a:r>
          </a:p>
          <a:p>
            <a:pPr marL="285750" indent="-285750">
              <a:lnSpc>
                <a:spcPct val="120000"/>
              </a:lnSpc>
              <a:spcBef>
                <a:spcPts val="1000"/>
              </a:spcBef>
              <a:buFont typeface="Arial"/>
              <a:buChar char="•"/>
            </a:pPr>
            <a:r>
              <a:rPr lang="en-US"/>
              <a:t> that provides wireless communication capabilities. </a:t>
            </a:r>
          </a:p>
          <a:p>
            <a:pPr marL="285750" indent="-285750">
              <a:lnSpc>
                <a:spcPct val="120000"/>
              </a:lnSpc>
              <a:spcBef>
                <a:spcPts val="1000"/>
              </a:spcBef>
              <a:buFont typeface="Arial"/>
              <a:buChar char="•"/>
            </a:pPr>
            <a:r>
              <a:rPr lang="en-US"/>
              <a:t>It is widely used in IoT (Internet of Things) projects, remote monitoring, and embedded systems that require mobile connectivity for SMS, voice calls, and data.</a:t>
            </a:r>
          </a:p>
          <a:p>
            <a:pPr algn="l"/>
            <a:endParaRPr lang="en-US"/>
          </a:p>
        </p:txBody>
      </p:sp>
    </p:spTree>
    <p:extLst>
      <p:ext uri="{BB962C8B-B14F-4D97-AF65-F5344CB8AC3E}">
        <p14:creationId xmlns:p14="http://schemas.microsoft.com/office/powerpoint/2010/main" val="1897441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1E603-EC7C-19CF-F08A-23D0DA0E8C70}"/>
              </a:ext>
            </a:extLst>
          </p:cNvPr>
          <p:cNvSpPr>
            <a:spLocks noGrp="1"/>
          </p:cNvSpPr>
          <p:nvPr>
            <p:ph type="title"/>
          </p:nvPr>
        </p:nvSpPr>
        <p:spPr>
          <a:xfrm>
            <a:off x="1066800" y="1030311"/>
            <a:ext cx="8905141" cy="1359356"/>
          </a:xfrm>
        </p:spPr>
        <p:txBody>
          <a:bodyPr anchor="ctr">
            <a:normAutofit/>
          </a:bodyPr>
          <a:lstStyle/>
          <a:p>
            <a:r>
              <a:rPr lang="en-US" sz="4800" b="1"/>
              <a:t>SERVO MOTOR </a:t>
            </a:r>
          </a:p>
        </p:txBody>
      </p:sp>
      <p:pic>
        <p:nvPicPr>
          <p:cNvPr id="9" name="Content Placeholder 8" descr="A blue small electric motor with a wire&#10;&#10;Description automatically generated">
            <a:extLst>
              <a:ext uri="{FF2B5EF4-FFF2-40B4-BE49-F238E27FC236}">
                <a16:creationId xmlns:a16="http://schemas.microsoft.com/office/drawing/2014/main" id="{BC2E23E9-B34D-A068-97B1-6BAC836DCCD3}"/>
              </a:ext>
            </a:extLst>
          </p:cNvPr>
          <p:cNvPicPr>
            <a:picLocks noGrp="1" noChangeAspect="1"/>
          </p:cNvPicPr>
          <p:nvPr>
            <p:ph idx="1"/>
          </p:nvPr>
        </p:nvPicPr>
        <p:blipFill>
          <a:blip r:embed="rId2"/>
          <a:stretch>
            <a:fillRect/>
          </a:stretch>
        </p:blipFill>
        <p:spPr>
          <a:xfrm>
            <a:off x="1072316" y="2907622"/>
            <a:ext cx="3278620" cy="22191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Box 7">
            <a:extLst>
              <a:ext uri="{FF2B5EF4-FFF2-40B4-BE49-F238E27FC236}">
                <a16:creationId xmlns:a16="http://schemas.microsoft.com/office/drawing/2014/main" id="{0F7E557D-9A7A-C0DC-F881-8B666E4D63D7}"/>
              </a:ext>
            </a:extLst>
          </p:cNvPr>
          <p:cNvSpPr txBox="1"/>
          <p:nvPr/>
        </p:nvSpPr>
        <p:spPr>
          <a:xfrm>
            <a:off x="5357557" y="2508965"/>
            <a:ext cx="5404677" cy="32850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20000"/>
              </a:lnSpc>
              <a:spcBef>
                <a:spcPts val="1000"/>
              </a:spcBef>
              <a:buFont typeface="Arial"/>
              <a:buChar char="•"/>
            </a:pPr>
            <a:r>
              <a:rPr lang="en-US"/>
              <a:t>The SG90 is a small and lightweight servo motor with high output power.</a:t>
            </a:r>
          </a:p>
          <a:p>
            <a:pPr marL="285750" indent="-285750">
              <a:lnSpc>
                <a:spcPct val="120000"/>
              </a:lnSpc>
              <a:spcBef>
                <a:spcPts val="1000"/>
              </a:spcBef>
              <a:buFont typeface="Arial"/>
              <a:buChar char="•"/>
            </a:pPr>
            <a:r>
              <a:rPr lang="en-US"/>
              <a:t>IT is widely used in electronics projects.</a:t>
            </a:r>
          </a:p>
          <a:p>
            <a:pPr marL="285750" indent="-285750">
              <a:lnSpc>
                <a:spcPct val="120000"/>
              </a:lnSpc>
              <a:spcBef>
                <a:spcPts val="1000"/>
              </a:spcBef>
              <a:buFont typeface="Arial"/>
              <a:buChar char="•"/>
            </a:pPr>
            <a:r>
              <a:rPr lang="en-US"/>
              <a:t> IT is one of the most popular servo motors for hobbyists, especially in robotics and automation, due to its affordability, ease of use, and compatibility with microcontrollers like Arduino.</a:t>
            </a:r>
          </a:p>
          <a:p>
            <a:pPr algn="l"/>
            <a:endParaRPr lang="en-US"/>
          </a:p>
        </p:txBody>
      </p:sp>
    </p:spTree>
    <p:extLst>
      <p:ext uri="{BB962C8B-B14F-4D97-AF65-F5344CB8AC3E}">
        <p14:creationId xmlns:p14="http://schemas.microsoft.com/office/powerpoint/2010/main" val="34971255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B496C-E1E7-BD47-2551-C4790473B680}"/>
              </a:ext>
            </a:extLst>
          </p:cNvPr>
          <p:cNvSpPr>
            <a:spLocks noGrp="1"/>
          </p:cNvSpPr>
          <p:nvPr>
            <p:ph type="title"/>
          </p:nvPr>
        </p:nvSpPr>
        <p:spPr>
          <a:xfrm>
            <a:off x="1066800" y="1030311"/>
            <a:ext cx="8905141" cy="1359356"/>
          </a:xfrm>
        </p:spPr>
        <p:txBody>
          <a:bodyPr anchor="ctr">
            <a:normAutofit/>
          </a:bodyPr>
          <a:lstStyle/>
          <a:p>
            <a:r>
              <a:rPr lang="en-US" sz="4800" b="1"/>
              <a:t>LPG MQ6</a:t>
            </a:r>
          </a:p>
        </p:txBody>
      </p:sp>
      <p:pic>
        <p:nvPicPr>
          <p:cNvPr id="9" name="Content Placeholder 8" descr="A small metal object with a round metal object&#10;&#10;Description automatically generated">
            <a:extLst>
              <a:ext uri="{FF2B5EF4-FFF2-40B4-BE49-F238E27FC236}">
                <a16:creationId xmlns:a16="http://schemas.microsoft.com/office/drawing/2014/main" id="{EA4D8810-3856-05C8-006C-5BE2E4EDBAB7}"/>
              </a:ext>
            </a:extLst>
          </p:cNvPr>
          <p:cNvPicPr>
            <a:picLocks noGrp="1" noChangeAspect="1"/>
          </p:cNvPicPr>
          <p:nvPr>
            <p:ph idx="1"/>
          </p:nvPr>
        </p:nvPicPr>
        <p:blipFill>
          <a:blip r:embed="rId2"/>
          <a:stretch>
            <a:fillRect/>
          </a:stretch>
        </p:blipFill>
        <p:spPr>
          <a:xfrm>
            <a:off x="1063102" y="2627179"/>
            <a:ext cx="3408414" cy="259083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Box 2">
            <a:extLst>
              <a:ext uri="{FF2B5EF4-FFF2-40B4-BE49-F238E27FC236}">
                <a16:creationId xmlns:a16="http://schemas.microsoft.com/office/drawing/2014/main" id="{EF0AE1F9-F7ED-3DFA-1A95-CCC013F31FF1}"/>
              </a:ext>
            </a:extLst>
          </p:cNvPr>
          <p:cNvSpPr txBox="1"/>
          <p:nvPr/>
        </p:nvSpPr>
        <p:spPr>
          <a:xfrm rot="10800000" flipH="1" flipV="1">
            <a:off x="5519370" y="2509796"/>
            <a:ext cx="5242415" cy="3139321"/>
          </a:xfrm>
          <a:prstGeom prst="rect">
            <a:avLst/>
          </a:prstGeom>
          <a:noFill/>
        </p:spPr>
        <p:txBody>
          <a:bodyPr wrap="square" lIns="91440" tIns="45720" rIns="91440" bIns="45720" rtlCol="0" anchor="t">
            <a:spAutoFit/>
          </a:bodyPr>
          <a:lstStyle/>
          <a:p>
            <a:pPr marL="285750" indent="-285750">
              <a:buFont typeface="Arial"/>
              <a:buChar char="•"/>
            </a:pPr>
            <a:r>
              <a:rPr lang="en-US"/>
              <a:t>The MQ-6 is a gas sensor that detects the presence of Liquefied Petroleum Gas (LPG), propane, butane, and other flammable gases in the air.</a:t>
            </a:r>
          </a:p>
          <a:p>
            <a:pPr marL="285750" indent="-285750">
              <a:buFont typeface="Arial" panose="020B0604020202020204" pitchFamily="34" charset="0"/>
              <a:buChar char="•"/>
            </a:pPr>
            <a:endParaRPr lang="en-US"/>
          </a:p>
          <a:p>
            <a:pPr marL="285750" indent="-285750">
              <a:buFont typeface="Arial"/>
              <a:buChar char="•"/>
            </a:pPr>
            <a:r>
              <a:rPr lang="en-US"/>
              <a:t> It's widely used in safety systems, such as gas leak detection in homes and industries. </a:t>
            </a:r>
          </a:p>
          <a:p>
            <a:pPr marL="285750" indent="-285750">
              <a:buFont typeface="Arial" panose="020B0604020202020204" pitchFamily="34" charset="0"/>
              <a:buChar char="•"/>
            </a:pPr>
            <a:endParaRPr lang="en-US"/>
          </a:p>
          <a:p>
            <a:pPr marL="285750" indent="-285750">
              <a:buFont typeface="Arial"/>
              <a:buChar char="•"/>
            </a:pPr>
            <a:r>
              <a:rPr lang="en-US"/>
              <a:t>The sensor operates by detecting gas concentrations in the range of 200 ppm to 10,000 ppm.</a:t>
            </a:r>
            <a:endParaRPr lang="en-IN"/>
          </a:p>
        </p:txBody>
      </p:sp>
    </p:spTree>
    <p:extLst>
      <p:ext uri="{BB962C8B-B14F-4D97-AF65-F5344CB8AC3E}">
        <p14:creationId xmlns:p14="http://schemas.microsoft.com/office/powerpoint/2010/main" val="37801145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124F8-98F2-16BE-620C-CF8FEC9C9F58}"/>
              </a:ext>
            </a:extLst>
          </p:cNvPr>
          <p:cNvSpPr>
            <a:spLocks noGrp="1"/>
          </p:cNvSpPr>
          <p:nvPr>
            <p:ph type="title"/>
          </p:nvPr>
        </p:nvSpPr>
        <p:spPr>
          <a:xfrm>
            <a:off x="1206859" y="842074"/>
            <a:ext cx="8067143" cy="1088326"/>
          </a:xfrm>
        </p:spPr>
        <p:txBody>
          <a:bodyPr>
            <a:normAutofit/>
          </a:bodyPr>
          <a:lstStyle/>
          <a:p>
            <a:r>
              <a:rPr lang="en-US" sz="4800" b="1"/>
              <a:t>Load cell</a:t>
            </a:r>
            <a:endParaRPr lang="en-IN" sz="4800" b="1"/>
          </a:p>
        </p:txBody>
      </p:sp>
      <p:pic>
        <p:nvPicPr>
          <p:cNvPr id="5" name="Content Placeholder 4" descr="A metal piece with wires&#10;&#10;Description automatically generated">
            <a:extLst>
              <a:ext uri="{FF2B5EF4-FFF2-40B4-BE49-F238E27FC236}">
                <a16:creationId xmlns:a16="http://schemas.microsoft.com/office/drawing/2014/main" id="{90A8CD0B-515A-E5A6-E191-AD417CC0A0E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69471" y="2338514"/>
            <a:ext cx="3356149" cy="262262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Box 5">
            <a:extLst>
              <a:ext uri="{FF2B5EF4-FFF2-40B4-BE49-F238E27FC236}">
                <a16:creationId xmlns:a16="http://schemas.microsoft.com/office/drawing/2014/main" id="{3F0F2EFE-ED33-BB09-96B0-6B16F5611E09}"/>
              </a:ext>
            </a:extLst>
          </p:cNvPr>
          <p:cNvSpPr txBox="1"/>
          <p:nvPr/>
        </p:nvSpPr>
        <p:spPr>
          <a:xfrm flipH="1">
            <a:off x="5395964" y="2180492"/>
            <a:ext cx="5476351" cy="2585323"/>
          </a:xfrm>
          <a:prstGeom prst="rect">
            <a:avLst/>
          </a:prstGeom>
          <a:noFill/>
        </p:spPr>
        <p:txBody>
          <a:bodyPr wrap="square" lIns="91440" tIns="45720" rIns="91440" bIns="45720" rtlCol="0" anchor="t">
            <a:spAutoFit/>
          </a:bodyPr>
          <a:lstStyle/>
          <a:p>
            <a:pPr marL="285750" indent="-285750">
              <a:buFont typeface="Arial"/>
              <a:buChar char="•"/>
            </a:pPr>
            <a:r>
              <a:rPr lang="en-US"/>
              <a:t>A load cell is a sensor or transducer used to measure force or weight by converting the force applied to it into an electrical signal.</a:t>
            </a:r>
          </a:p>
          <a:p>
            <a:pPr marL="285750" indent="-285750">
              <a:buFont typeface="Arial" panose="020B0604020202020204" pitchFamily="34" charset="0"/>
              <a:buChar char="•"/>
            </a:pPr>
            <a:endParaRPr lang="en-US"/>
          </a:p>
          <a:p>
            <a:pPr marL="285750" indent="-285750">
              <a:buFont typeface="Arial"/>
              <a:buChar char="•"/>
            </a:pPr>
            <a:r>
              <a:rPr lang="en-US"/>
              <a:t> Load cells are widely used in various industrial, laboratory, and consumer applications like weighing scales, industrial machinery, and force sensors in robotics. </a:t>
            </a:r>
          </a:p>
          <a:p>
            <a:pPr marL="285750" indent="-285750">
              <a:buFont typeface="Arial" panose="020B0604020202020204" pitchFamily="34" charset="0"/>
              <a:buChar char="•"/>
            </a:pPr>
            <a:endParaRPr lang="en-IN"/>
          </a:p>
        </p:txBody>
      </p:sp>
    </p:spTree>
    <p:extLst>
      <p:ext uri="{BB962C8B-B14F-4D97-AF65-F5344CB8AC3E}">
        <p14:creationId xmlns:p14="http://schemas.microsoft.com/office/powerpoint/2010/main" val="26331398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136BF-F16C-1CEF-AB56-304DAAACDF35}"/>
              </a:ext>
            </a:extLst>
          </p:cNvPr>
          <p:cNvSpPr>
            <a:spLocks noGrp="1"/>
          </p:cNvSpPr>
          <p:nvPr>
            <p:ph type="title"/>
          </p:nvPr>
        </p:nvSpPr>
        <p:spPr>
          <a:xfrm>
            <a:off x="1051876" y="971227"/>
            <a:ext cx="8596668" cy="1152902"/>
          </a:xfrm>
        </p:spPr>
        <p:txBody>
          <a:bodyPr>
            <a:normAutofit/>
          </a:bodyPr>
          <a:lstStyle/>
          <a:p>
            <a:r>
              <a:rPr lang="en-US" sz="4800" b="1"/>
              <a:t>HX711</a:t>
            </a:r>
          </a:p>
        </p:txBody>
      </p:sp>
      <p:pic>
        <p:nvPicPr>
          <p:cNvPr id="5" name="Content Placeholder 4" descr="A green circuit board with white text&#10;&#10;Description automatically generated">
            <a:extLst>
              <a:ext uri="{FF2B5EF4-FFF2-40B4-BE49-F238E27FC236}">
                <a16:creationId xmlns:a16="http://schemas.microsoft.com/office/drawing/2014/main" id="{487CF79C-547E-9FD0-A04E-14E2036640B0}"/>
              </a:ext>
            </a:extLst>
          </p:cNvPr>
          <p:cNvPicPr>
            <a:picLocks noGrp="1" noChangeAspect="1"/>
          </p:cNvPicPr>
          <p:nvPr>
            <p:ph idx="1"/>
          </p:nvPr>
        </p:nvPicPr>
        <p:blipFill>
          <a:blip r:embed="rId2"/>
          <a:stretch>
            <a:fillRect/>
          </a:stretch>
        </p:blipFill>
        <p:spPr>
          <a:xfrm>
            <a:off x="1048459" y="2388945"/>
            <a:ext cx="2838450" cy="260180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Content Placeholder 3">
            <a:extLst>
              <a:ext uri="{FF2B5EF4-FFF2-40B4-BE49-F238E27FC236}">
                <a16:creationId xmlns:a16="http://schemas.microsoft.com/office/drawing/2014/main" id="{2EA409C7-33BA-F63F-AE4D-A60A19F818B8}"/>
              </a:ext>
            </a:extLst>
          </p:cNvPr>
          <p:cNvSpPr>
            <a:spLocks noGrp="1"/>
          </p:cNvSpPr>
          <p:nvPr>
            <p:ph sz="half" idx="4294967295"/>
          </p:nvPr>
        </p:nvSpPr>
        <p:spPr>
          <a:xfrm>
            <a:off x="4559758" y="2376030"/>
            <a:ext cx="6327802" cy="3500895"/>
          </a:xfrm>
        </p:spPr>
        <p:txBody>
          <a:bodyPr vert="horz" lIns="91440" tIns="45720" rIns="91440" bIns="45720" rtlCol="0" anchor="t">
            <a:normAutofit/>
          </a:bodyPr>
          <a:lstStyle/>
          <a:p>
            <a:r>
              <a:rPr lang="en-US">
                <a:ea typeface="+mn-lt"/>
                <a:cs typeface="+mn-lt"/>
              </a:rPr>
              <a:t>The HX711 is a highly integrated precision 24-bit analog-to-digital converter (ADC)</a:t>
            </a:r>
            <a:endParaRPr lang="en-US"/>
          </a:p>
          <a:p>
            <a:r>
              <a:rPr lang="en-US">
                <a:ea typeface="+mn-lt"/>
                <a:cs typeface="+mn-lt"/>
              </a:rPr>
              <a:t>IT designed specifically for weigh scales and industrial control applications.</a:t>
            </a:r>
            <a:endParaRPr lang="en-US"/>
          </a:p>
          <a:p>
            <a:r>
              <a:rPr lang="en-US">
                <a:ea typeface="+mn-lt"/>
                <a:cs typeface="+mn-lt"/>
              </a:rPr>
              <a:t> It is widely used in combination with load cells to provide accurate weight measurements by converting the small analog signals produced by the load cells into digital values.</a:t>
            </a:r>
            <a:endParaRPr lang="en-US"/>
          </a:p>
        </p:txBody>
      </p:sp>
    </p:spTree>
    <p:extLst>
      <p:ext uri="{BB962C8B-B14F-4D97-AF65-F5344CB8AC3E}">
        <p14:creationId xmlns:p14="http://schemas.microsoft.com/office/powerpoint/2010/main" val="1894796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829EE-A576-582D-C680-E5BFB845DAC7}"/>
              </a:ext>
            </a:extLst>
          </p:cNvPr>
          <p:cNvSpPr>
            <a:spLocks noGrp="1"/>
          </p:cNvSpPr>
          <p:nvPr>
            <p:ph type="title"/>
          </p:nvPr>
        </p:nvSpPr>
        <p:spPr>
          <a:xfrm>
            <a:off x="1066800" y="926989"/>
            <a:ext cx="8905141" cy="453028"/>
          </a:xfrm>
        </p:spPr>
        <p:txBody>
          <a:bodyPr anchor="ctr">
            <a:normAutofit fontScale="90000"/>
          </a:bodyPr>
          <a:lstStyle/>
          <a:p>
            <a:r>
              <a:rPr lang="en-US" sz="4800" b="1"/>
              <a:t>ADVANTAGES</a:t>
            </a:r>
          </a:p>
        </p:txBody>
      </p:sp>
      <p:sp>
        <p:nvSpPr>
          <p:cNvPr id="3" name="Content Placeholder 2">
            <a:extLst>
              <a:ext uri="{FF2B5EF4-FFF2-40B4-BE49-F238E27FC236}">
                <a16:creationId xmlns:a16="http://schemas.microsoft.com/office/drawing/2014/main" id="{7F2D8605-79BE-BBEE-A2D9-5196F2705855}"/>
              </a:ext>
            </a:extLst>
          </p:cNvPr>
          <p:cNvSpPr>
            <a:spLocks noGrp="1"/>
          </p:cNvSpPr>
          <p:nvPr>
            <p:ph idx="1"/>
          </p:nvPr>
        </p:nvSpPr>
        <p:spPr>
          <a:xfrm>
            <a:off x="1272928" y="1845252"/>
            <a:ext cx="9018448" cy="4526973"/>
          </a:xfrm>
        </p:spPr>
        <p:txBody>
          <a:bodyPr vert="horz" lIns="91440" tIns="45720" rIns="91440" bIns="45720" rtlCol="0" anchor="t">
            <a:noAutofit/>
          </a:bodyPr>
          <a:lstStyle/>
          <a:p>
            <a:r>
              <a:rPr lang="en-US" sz="2000" b="1">
                <a:ea typeface="+mn-lt"/>
                <a:cs typeface="+mn-lt"/>
              </a:rPr>
              <a:t>Real-time monitoring</a:t>
            </a:r>
            <a:endParaRPr lang="en-US" sz="2000" b="1"/>
          </a:p>
          <a:p>
            <a:pPr marL="0" indent="0">
              <a:buNone/>
            </a:pPr>
            <a:r>
              <a:rPr lang="en-US">
                <a:ea typeface="+mn-lt"/>
                <a:cs typeface="+mn-lt"/>
              </a:rPr>
              <a:t>The system can monitor the LPG level in real- time and publish the amount of gas as events.</a:t>
            </a:r>
            <a:endParaRPr lang="en-US"/>
          </a:p>
          <a:p>
            <a:r>
              <a:rPr lang="en-US" sz="2000" b="1">
                <a:ea typeface="+mn-lt"/>
                <a:cs typeface="+mn-lt"/>
              </a:rPr>
              <a:t>Alerts</a:t>
            </a:r>
          </a:p>
          <a:p>
            <a:pPr marL="0" indent="0">
              <a:buNone/>
            </a:pPr>
            <a:r>
              <a:rPr lang="en-US">
                <a:ea typeface="+mn-lt"/>
                <a:cs typeface="+mn-lt"/>
              </a:rPr>
              <a:t>The system can send SMS notifications to the user when the LPG level is low or if there is agas  leakage.</a:t>
            </a:r>
            <a:endParaRPr lang="en-US"/>
          </a:p>
          <a:p>
            <a:r>
              <a:rPr lang="en-US" sz="2000" b="1">
                <a:ea typeface="+mn-lt"/>
                <a:cs typeface="+mn-lt"/>
              </a:rPr>
              <a:t>Connected devices</a:t>
            </a:r>
          </a:p>
          <a:p>
            <a:pPr marL="0" indent="0">
              <a:buNone/>
            </a:pPr>
            <a:r>
              <a:rPr lang="en-US">
                <a:ea typeface="+mn-lt"/>
                <a:cs typeface="+mn-lt"/>
              </a:rPr>
              <a:t>The user can respond to the alert from any location using a connected device like a    smartphone</a:t>
            </a:r>
          </a:p>
          <a:p>
            <a:r>
              <a:rPr lang="en-US" sz="2000" b="1">
                <a:ea typeface="+mn-lt"/>
                <a:cs typeface="+mn-lt"/>
              </a:rPr>
              <a:t>  Safety</a:t>
            </a:r>
            <a:endParaRPr lang="en-US" sz="2000" b="1"/>
          </a:p>
          <a:p>
            <a:pPr marL="0" indent="0">
              <a:buNone/>
            </a:pPr>
            <a:r>
              <a:rPr lang="en-US">
                <a:ea typeface="+mn-lt"/>
                <a:cs typeface="+mn-lt"/>
              </a:rPr>
              <a:t> The system can detect gas leakage and fire, and turn on a buzzer and exhaust fan to alert the user.</a:t>
            </a:r>
            <a:endParaRPr lang="en-US"/>
          </a:p>
          <a:p>
            <a:endParaRPr lang="en-US" sz="1600"/>
          </a:p>
        </p:txBody>
      </p:sp>
    </p:spTree>
    <p:extLst>
      <p:ext uri="{BB962C8B-B14F-4D97-AF65-F5344CB8AC3E}">
        <p14:creationId xmlns:p14="http://schemas.microsoft.com/office/powerpoint/2010/main" val="7807982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FBE31-E04D-E54B-C2B8-93225166030D}"/>
              </a:ext>
            </a:extLst>
          </p:cNvPr>
          <p:cNvSpPr>
            <a:spLocks noGrp="1"/>
          </p:cNvSpPr>
          <p:nvPr>
            <p:ph type="title"/>
          </p:nvPr>
        </p:nvSpPr>
        <p:spPr>
          <a:xfrm>
            <a:off x="677334" y="441702"/>
            <a:ext cx="8596668" cy="500062"/>
          </a:xfrm>
        </p:spPr>
        <p:txBody>
          <a:bodyPr>
            <a:noAutofit/>
          </a:bodyPr>
          <a:lstStyle/>
          <a:p>
            <a:r>
              <a:rPr lang="en-US" sz="4800" b="1"/>
              <a:t>REFERENCE</a:t>
            </a:r>
            <a:endParaRPr lang="en-IN" sz="4800" b="1"/>
          </a:p>
        </p:txBody>
      </p:sp>
      <p:sp>
        <p:nvSpPr>
          <p:cNvPr id="3" name="Content Placeholder 2">
            <a:extLst>
              <a:ext uri="{FF2B5EF4-FFF2-40B4-BE49-F238E27FC236}">
                <a16:creationId xmlns:a16="http://schemas.microsoft.com/office/drawing/2014/main" id="{19A2B978-2F01-3148-09E5-E6E64FE359B2}"/>
              </a:ext>
            </a:extLst>
          </p:cNvPr>
          <p:cNvSpPr>
            <a:spLocks noGrp="1"/>
          </p:cNvSpPr>
          <p:nvPr>
            <p:ph idx="1"/>
          </p:nvPr>
        </p:nvSpPr>
        <p:spPr>
          <a:xfrm>
            <a:off x="677334" y="1555990"/>
            <a:ext cx="8596668" cy="4485372"/>
          </a:xfrm>
        </p:spPr>
        <p:txBody>
          <a:bodyPr vert="horz" lIns="91440" tIns="45720" rIns="91440" bIns="45720" rtlCol="0" anchor="t">
            <a:noAutofit/>
          </a:bodyPr>
          <a:lstStyle/>
          <a:p>
            <a:r>
              <a:rPr lang="en-IN"/>
              <a:t> Shrestha, S., Anne, V. K.,  Chaitanya, R. (2019, April). IoT Based Smart Gas Management System. In 2019 3rd International Conference on Trends in Electronics and Informatics (ICOEI) (pp. 550-555). IEEE.</a:t>
            </a:r>
            <a:endParaRPr lang="en-US"/>
          </a:p>
          <a:p>
            <a:r>
              <a:rPr lang="en-IN"/>
              <a:t>Suma, V., Shekar, R. R., Akshay, K. A. (2019, June). Gas Leakage Detection Based on IOT. In 2019 3rd International conference on Electronics, Communication and Aerospace Technology (ICECA) (pp. 1312-1315). IEEE.</a:t>
            </a:r>
          </a:p>
          <a:p>
            <a:r>
              <a:rPr lang="en-IN"/>
              <a:t> Amin, M. M., </a:t>
            </a:r>
            <a:r>
              <a:rPr lang="en-IN" err="1"/>
              <a:t>Nugratama</a:t>
            </a:r>
            <a:r>
              <a:rPr lang="en-IN"/>
              <a:t>, M. A. A., </a:t>
            </a:r>
            <a:r>
              <a:rPr lang="en-IN" err="1"/>
              <a:t>Maseleno</a:t>
            </a:r>
            <a:r>
              <a:rPr lang="en-IN"/>
              <a:t>, A., Huda, M., Jasmi, K. A. (2018). Design of cigarette disposal blower and automatic </a:t>
            </a:r>
            <a:r>
              <a:rPr lang="en-IN" err="1"/>
              <a:t>freshner</a:t>
            </a:r>
            <a:r>
              <a:rPr lang="en-IN"/>
              <a:t> using mq-5 sensor based on </a:t>
            </a:r>
            <a:r>
              <a:rPr lang="en-IN" err="1"/>
              <a:t>atmega</a:t>
            </a:r>
            <a:r>
              <a:rPr lang="en-IN"/>
              <a:t> 8535 microcontroller. International Journal of Engineering &amp; Technology, 7(3), 1108-1113.</a:t>
            </a:r>
          </a:p>
          <a:p>
            <a:r>
              <a:rPr lang="en-IN" err="1"/>
              <a:t>Imade</a:t>
            </a:r>
            <a:r>
              <a:rPr lang="en-IN"/>
              <a:t>, S., </a:t>
            </a:r>
            <a:r>
              <a:rPr lang="en-IN" err="1"/>
              <a:t>Rajmanes</a:t>
            </a:r>
            <a:r>
              <a:rPr lang="en-IN"/>
              <a:t>, P., </a:t>
            </a:r>
            <a:r>
              <a:rPr lang="en-IN" err="1"/>
              <a:t>Gavali</a:t>
            </a:r>
            <a:r>
              <a:rPr lang="en-IN"/>
              <a:t>, A., </a:t>
            </a:r>
            <a:r>
              <a:rPr lang="en-IN" err="1"/>
              <a:t>Nayakwadi</a:t>
            </a:r>
            <a:r>
              <a:rPr lang="en-IN"/>
              <a:t>, P. V. N. (2018). Gas leakage detection and smart alerting system using IOT. International Journal of Innovative research &amp; studies, 2(II).</a:t>
            </a:r>
          </a:p>
        </p:txBody>
      </p:sp>
    </p:spTree>
    <p:extLst>
      <p:ext uri="{BB962C8B-B14F-4D97-AF65-F5344CB8AC3E}">
        <p14:creationId xmlns:p14="http://schemas.microsoft.com/office/powerpoint/2010/main" val="32308914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487B52-E2DA-408D-E3BC-9011ACB6E9A5}"/>
              </a:ext>
            </a:extLst>
          </p:cNvPr>
          <p:cNvSpPr txBox="1"/>
          <p:nvPr/>
        </p:nvSpPr>
        <p:spPr>
          <a:xfrm>
            <a:off x="3024554" y="2763295"/>
            <a:ext cx="5124659" cy="1200329"/>
          </a:xfrm>
          <a:prstGeom prst="rect">
            <a:avLst/>
          </a:prstGeom>
          <a:noFill/>
        </p:spPr>
        <p:txBody>
          <a:bodyPr wrap="square" lIns="91440" tIns="45720" rIns="91440" bIns="45720" rtlCol="0" anchor="t">
            <a:spAutoFit/>
          </a:bodyPr>
          <a:lstStyle/>
          <a:p>
            <a:r>
              <a:rPr lang="en-US" sz="7200">
                <a:solidFill>
                  <a:srgbClr val="FF0000"/>
                </a:solidFill>
              </a:rPr>
              <a:t>THANK YOU</a:t>
            </a:r>
            <a:endParaRPr lang="en-IN" sz="7200">
              <a:solidFill>
                <a:srgbClr val="FF0000"/>
              </a:solidFill>
            </a:endParaRPr>
          </a:p>
        </p:txBody>
      </p:sp>
    </p:spTree>
    <p:extLst>
      <p:ext uri="{BB962C8B-B14F-4D97-AF65-F5344CB8AC3E}">
        <p14:creationId xmlns:p14="http://schemas.microsoft.com/office/powerpoint/2010/main" val="253796216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Application>Microsoft Office PowerPoint</Application>
  <PresentationFormat>Widescreen</PresentationFormat>
  <Slides>21</Slides>
  <Notes>0</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Facet</vt:lpstr>
      <vt:lpstr>GAS LEVEL DETECTION  AND  AUTOMATIC BOOKING ALERT</vt:lpstr>
      <vt:lpstr>A PRESENTATION ON GAS LEVEL DETECTION AND AUTOMATIC BOOKING ALERT</vt:lpstr>
      <vt:lpstr>CONTENT</vt:lpstr>
      <vt:lpstr>INTRODUCTION</vt:lpstr>
      <vt:lpstr>OBJECTIVE</vt:lpstr>
      <vt:lpstr>BLOCK DIAGRAM</vt:lpstr>
      <vt:lpstr>FLOWCHART</vt:lpstr>
      <vt:lpstr>SOFTWARE USED</vt:lpstr>
      <vt:lpstr>COMPONENTS REQUIRE</vt:lpstr>
      <vt:lpstr>MICROCONTROLLER (AT MEGA 328)</vt:lpstr>
      <vt:lpstr>Regulator (LM7805)</vt:lpstr>
      <vt:lpstr>Lcd 16*2</vt:lpstr>
      <vt:lpstr>ESP8266 (WI FI MODULE)</vt:lpstr>
      <vt:lpstr>GSM MODULE</vt:lpstr>
      <vt:lpstr>SERVO MOTOR </vt:lpstr>
      <vt:lpstr>LPG MQ6</vt:lpstr>
      <vt:lpstr>Load cell</vt:lpstr>
      <vt:lpstr>HX711</vt:lpstr>
      <vt:lpstr>ADVANTAGES</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GAS LEVEL DETECTION  AND  AUTOMATIC BOOKING ALERT</dc:title>
  <dc:creator/>
  <cp:lastModifiedBy>prachi salunkhe</cp:lastModifiedBy>
  <cp:revision>2</cp:revision>
  <dcterms:created xsi:type="dcterms:W3CDTF">2024-10-18T15:40:51Z</dcterms:created>
  <dcterms:modified xsi:type="dcterms:W3CDTF">2024-10-20T14:14:19Z</dcterms:modified>
</cp:coreProperties>
</file>